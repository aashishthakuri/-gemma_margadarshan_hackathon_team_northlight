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0:00-0:25 | SILENT. Walk to centre. Look at the room. Then MOUTH clearly, with no sound at all: 'Hello. My name is Praful Bhatt. Thank you for having us.' Full mouth movement, normal pace, unhurried. Then hold still and let the silence run about four seconds. Do not smile, do not explain. The discomfort is the point.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0:25-0:45 | NOW SPEAK. First words of the pitch, said plainly: 'Nobody heard that. Some of you tried to read my lips. Almost nobody got it -- lip-reading is about 30% accurate on a good day.' Pause. 'That was ten seconds. Now make it a lecture. A news broadcast. A doctor reading your test results.'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0:45-1:05 | SILENT AGAIN. Point at the caption bar, then MOUTH the exact same sentence with no sound: 'Hello. My name is Praful Bhatt. Thank you for having us.' This time they read along and get every word. Let it land two seconds. Then speak: 'Same silence. Same sentence. One difference.'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1:05-1:20. 'That is the entire product. But here is the part we got wrong, and we only found out because we asked.' Say 'we got wrong' without flinching -- it sets up the next two slides, which are the strongest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1:20-1:40. 'We were building a generic Nepali captioning tool. Before we committed, we emailed five disability organisations. Two answered the same morning, and both told us the same thing.' Then read the NDFN quote, or a tight version of it. Do NOT read both quotes word for word -- you will lose 15 seconds. Read NDFN, summarise NFDN.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1:40-2:00 | THE CREDIBILITY SLIDE. 'Deaf people whose first language is sign language need an interpreter, not subtitles. So we narrowed the project. Verse is not a Deaf accessibility product. It is for hard-of-hearing people, people who lost hearing later in life, and deafblind users whose assistive tech reads text. That group grows with age, and it is served by almost nothing in Nepali and nothing at all in Maithili.' Hit MAITHILI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2:00-2:20. 'We did not stop at email. Half an hour on a call with NFDN, who confirmed the use case and offered to facilitate a pilot. Two KU researchers on data and edge cases. And we are sitting down with actual hard-of-hearing users -- tomorrow. One day after this deadline.' The 'tomorrow' line is your proof this outlives the hackathon. Land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2:20-2:35. 'This is Verse. Audio in, timed caption file out -- srt or vtt. Same language, or translated into either of the other two.' Keep it short, the picture does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2:35-2:55 | THE GEMMA SLIDE. This is 30% of the score. 'Gemma 4 E4B is not a component of Verse, it IS Verse. Audio goes into Gemma and captions come out. No Whisper. No cloud speech API. If you took Gemma out there would be nothing left to demo.' Then: 'One adapter does nine jobs -- three transcription, six translation directions -- selected by instruction, not by a router. That only works because Gemma takes audio and follows instructions in the same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2:55-3:15. 'It is a LoRA fine-tune of Gemma 4 E4B, trained on one multitask mix so captioning and speech translation are learned together rather than bolted together afterwards. The hard part was keeping the mix balanced -- a model that transcribes Nepali well and translates Maithili badly is not one system, it is a demo.' Then the E4B line: 'We chose the edge-deployable variant on purpose -- classrooms and clinics, where you should not be shipping a medical appointment to a cloud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3:15-3:40 | THE NUMBER. 'Same held-out clips, both models, identical decoding. Out of the box, Gemma 4 gets 41.96% word error. Fine-tuned, 12.35%. That is a 71% cut in word error and 72% in character error.' Pause. 'At 42% you get captions you cannot trust. At 12% you get captions you can follow. That gap is what this project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3:40-3:50 | THE TRUST SLIDE. Say it fast and without apology: 'That is one model measured against itself. Same clips, both models, identical decoding, held out of training, and we did not pick the clips after seeing the results. And the accuracy figures are just a hundred minus the error rate -- readable indicators, not classification accuracy.' This buys back every number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3:50-4:00 | CLOSE. Do NOT say 'thank you for listening'. Close on momentum: 'The pilot pathway already exists. NFDN offered to facilitate it. We meet hard-of-hearing users tomorrow. Next is streaming captions, then on-device, so a Maithili speaker in a district clinic gets captions with no internet at all.' Then MOUTH silently, one last time: 'Thank you.' Let them read it off the screen.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822960" y="548640"/>
            <a:ext cx="10515600" cy="365760"/>
          </a:xfrm>
          <a:prstGeom prst="rect">
            <a:avLst/>
          </a:prstGeom>
          <a:noFill/>
          <a:ln/>
        </p:spPr>
        <p:txBody>
          <a:bodyPr wrap="square" lIns="0" tIns="0" rIns="0" bIns="0" rtlCol="0" anchor="ctr"/>
          <a:lstStyle/>
          <a:p>
            <a:pPr indent="0" marL="0">
              <a:buNone/>
            </a:pPr>
            <a:r>
              <a:rPr lang="en-US" sz="1300" b="1" spc="300" kern="0" dirty="0">
                <a:solidFill>
                  <a:srgbClr val="8A7F4E"/>
                </a:solidFill>
                <a:latin typeface="Calibri" pitchFamily="34" charset="0"/>
                <a:ea typeface="Calibri" pitchFamily="34" charset="-122"/>
                <a:cs typeface="Calibri" pitchFamily="34" charset="-120"/>
              </a:rPr>
              <a:t>TEAM NORTHLIGHT  ·  BUILD WITH GEMMA: MARGADARSHAN</a:t>
            </a:r>
            <a:endParaRPr lang="en-US" sz="1300" dirty="0"/>
          </a:p>
        </p:txBody>
      </p:sp>
      <p:sp>
        <p:nvSpPr>
          <p:cNvPr id="4" name="Text 1"/>
          <p:cNvSpPr/>
          <p:nvPr/>
        </p:nvSpPr>
        <p:spPr>
          <a:xfrm>
            <a:off x="822960" y="1600200"/>
            <a:ext cx="10515600" cy="1828800"/>
          </a:xfrm>
          <a:prstGeom prst="rect">
            <a:avLst/>
          </a:prstGeom>
          <a:noFill/>
          <a:ln/>
        </p:spPr>
        <p:txBody>
          <a:bodyPr wrap="square" lIns="0" tIns="0" rIns="0" bIns="0" rtlCol="0" anchor="ctr"/>
          <a:lstStyle/>
          <a:p>
            <a:pPr indent="0" marL="0">
              <a:buNone/>
            </a:pPr>
            <a:r>
              <a:rPr lang="en-US" sz="13000" b="1" dirty="0">
                <a:solidFill>
                  <a:srgbClr val="D4AF37"/>
                </a:solidFill>
                <a:latin typeface="Bookman Old Style" pitchFamily="34" charset="0"/>
                <a:ea typeface="Bookman Old Style" pitchFamily="34" charset="-122"/>
                <a:cs typeface="Bookman Old Style" pitchFamily="34" charset="-120"/>
              </a:rPr>
              <a:t>VERSE.</a:t>
            </a:r>
            <a:endParaRPr lang="en-US" sz="13000" dirty="0"/>
          </a:p>
        </p:txBody>
      </p:sp>
      <p:sp>
        <p:nvSpPr>
          <p:cNvPr id="5" name="Shape 2"/>
          <p:cNvSpPr/>
          <p:nvPr/>
        </p:nvSpPr>
        <p:spPr>
          <a:xfrm>
            <a:off x="822960" y="3703320"/>
            <a:ext cx="1280160" cy="54864"/>
          </a:xfrm>
          <a:prstGeom prst="rect">
            <a:avLst/>
          </a:prstGeom>
          <a:solidFill>
            <a:srgbClr val="D4AF37"/>
          </a:solidFill>
          <a:ln/>
        </p:spPr>
      </p:sp>
      <p:sp>
        <p:nvSpPr>
          <p:cNvPr id="6" name="Text 3"/>
          <p:cNvSpPr/>
          <p:nvPr/>
        </p:nvSpPr>
        <p:spPr>
          <a:xfrm>
            <a:off x="822960" y="4023360"/>
            <a:ext cx="7498080" cy="1097280"/>
          </a:xfrm>
          <a:prstGeom prst="rect">
            <a:avLst/>
          </a:prstGeom>
          <a:noFill/>
          <a:ln/>
        </p:spPr>
        <p:txBody>
          <a:bodyPr wrap="square" lIns="0" tIns="0" rIns="0" bIns="0" rtlCol="0" anchor="ctr"/>
          <a:lstStyle/>
          <a:p>
            <a:pPr indent="0" marL="0">
              <a:lnSpc>
                <a:spcPct val="135000"/>
              </a:lnSpc>
              <a:buNone/>
            </a:pPr>
            <a:r>
              <a:rPr lang="en-US" sz="2400" dirty="0">
                <a:solidFill>
                  <a:srgbClr val="C5B358"/>
                </a:solidFill>
                <a:latin typeface="Calibri" pitchFamily="34" charset="0"/>
                <a:ea typeface="Calibri" pitchFamily="34" charset="-122"/>
                <a:cs typeface="Calibri" pitchFamily="34" charset="-120"/>
              </a:rPr>
              <a:t>Live captions in Nepali, Maithili and English.</a:t>
            </a:r>
            <a:endParaRPr lang="en-US" sz="2400" dirty="0"/>
          </a:p>
          <a:p>
            <a:pPr indent="0" marL="0">
              <a:lnSpc>
                <a:spcPct val="135000"/>
              </a:lnSpc>
              <a:buNone/>
            </a:pPr>
            <a:r>
              <a:rPr lang="en-US" sz="2400" dirty="0">
                <a:solidFill>
                  <a:srgbClr val="C5B358"/>
                </a:solidFill>
                <a:latin typeface="Calibri" pitchFamily="34" charset="0"/>
                <a:ea typeface="Calibri" pitchFamily="34" charset="-122"/>
                <a:cs typeface="Calibri" pitchFamily="34" charset="-120"/>
              </a:rPr>
              <a:t>Every moment, made clear.</a:t>
            </a:r>
            <a:endParaRPr lang="en-US" sz="2400" dirty="0"/>
          </a:p>
        </p:txBody>
      </p:sp>
      <p:sp>
        <p:nvSpPr>
          <p:cNvPr id="7" name="Shape 4"/>
          <p:cNvSpPr/>
          <p:nvPr/>
        </p:nvSpPr>
        <p:spPr>
          <a:xfrm>
            <a:off x="822960" y="5440680"/>
            <a:ext cx="3291840" cy="566928"/>
          </a:xfrm>
          <a:prstGeom prst="roundRect">
            <a:avLst>
              <a:gd name="adj" fmla="val 9677"/>
            </a:avLst>
          </a:prstGeom>
          <a:solidFill>
            <a:srgbClr val="1A1A1A"/>
          </a:solidFill>
          <a:ln w="19050">
            <a:solidFill>
              <a:srgbClr val="D4AF37"/>
            </a:solidFill>
            <a:prstDash val="dash"/>
          </a:ln>
        </p:spPr>
      </p:sp>
      <p:sp>
        <p:nvSpPr>
          <p:cNvPr id="8" name="Text 5"/>
          <p:cNvSpPr/>
          <p:nvPr/>
        </p:nvSpPr>
        <p:spPr>
          <a:xfrm>
            <a:off x="822960" y="5440680"/>
            <a:ext cx="3291840" cy="566928"/>
          </a:xfrm>
          <a:prstGeom prst="rect">
            <a:avLst/>
          </a:prstGeom>
          <a:noFill/>
          <a:ln/>
        </p:spPr>
        <p:txBody>
          <a:bodyPr wrap="square" lIns="0" tIns="0" rIns="0" bIns="0" rtlCol="0" anchor="ctr"/>
          <a:lstStyle/>
          <a:p>
            <a:pPr algn="ctr" indent="0" marL="0">
              <a:buNone/>
            </a:pPr>
            <a:r>
              <a:rPr lang="en-US" sz="1200" b="1" spc="200" kern="0" dirty="0">
                <a:solidFill>
                  <a:srgbClr val="D4AF37"/>
                </a:solidFill>
                <a:latin typeface="Calibri" pitchFamily="34" charset="0"/>
                <a:ea typeface="Calibri" pitchFamily="34" charset="-122"/>
                <a:cs typeface="Calibri" pitchFamily="34" charset="-120"/>
              </a:rPr>
              <a:t>◉  AUDIO OFF · SAY NOTHING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822960" y="1645920"/>
            <a:ext cx="10515600" cy="1371600"/>
          </a:xfrm>
          <a:prstGeom prst="rect">
            <a:avLst/>
          </a:prstGeom>
          <a:noFill/>
          <a:ln/>
        </p:spPr>
        <p:txBody>
          <a:bodyPr wrap="square" lIns="0" tIns="0" rIns="0" bIns="0" rtlCol="0" anchor="ctr"/>
          <a:lstStyle/>
          <a:p>
            <a:pPr indent="0" marL="0">
              <a:buNone/>
            </a:pPr>
            <a:r>
              <a:rPr lang="en-US" sz="6600" b="1" dirty="0">
                <a:solidFill>
                  <a:srgbClr val="D4AF37"/>
                </a:solidFill>
                <a:latin typeface="Bookman Old Style" pitchFamily="34" charset="0"/>
                <a:ea typeface="Bookman Old Style" pitchFamily="34" charset="-122"/>
                <a:cs typeface="Bookman Old Style" pitchFamily="34" charset="-120"/>
              </a:rPr>
              <a:t>Nobody heard that.</a:t>
            </a:r>
            <a:endParaRPr lang="en-US" sz="6600" dirty="0"/>
          </a:p>
        </p:txBody>
      </p:sp>
      <p:sp>
        <p:nvSpPr>
          <p:cNvPr id="4" name="Shape 1"/>
          <p:cNvSpPr/>
          <p:nvPr/>
        </p:nvSpPr>
        <p:spPr>
          <a:xfrm>
            <a:off x="822960" y="3246120"/>
            <a:ext cx="1005840" cy="54864"/>
          </a:xfrm>
          <a:prstGeom prst="rect">
            <a:avLst/>
          </a:prstGeom>
          <a:solidFill>
            <a:srgbClr val="D4AF37"/>
          </a:solidFill>
          <a:ln/>
        </p:spPr>
      </p:sp>
      <p:sp>
        <p:nvSpPr>
          <p:cNvPr id="5" name="Text 2"/>
          <p:cNvSpPr/>
          <p:nvPr/>
        </p:nvSpPr>
        <p:spPr>
          <a:xfrm>
            <a:off x="822960" y="3611880"/>
            <a:ext cx="8686800" cy="1097280"/>
          </a:xfrm>
          <a:prstGeom prst="rect">
            <a:avLst/>
          </a:prstGeom>
          <a:noFill/>
          <a:ln/>
        </p:spPr>
        <p:txBody>
          <a:bodyPr wrap="square" lIns="0" tIns="0" rIns="0" bIns="0" rtlCol="0" anchor="ctr"/>
          <a:lstStyle/>
          <a:p>
            <a:pPr indent="0" marL="0">
              <a:lnSpc>
                <a:spcPct val="130000"/>
              </a:lnSpc>
              <a:buNone/>
            </a:pPr>
            <a:r>
              <a:rPr lang="en-US" sz="2600" dirty="0">
                <a:solidFill>
                  <a:srgbClr val="C5B358"/>
                </a:solidFill>
                <a:latin typeface="Calibri" pitchFamily="34" charset="0"/>
                <a:ea typeface="Calibri" pitchFamily="34" charset="-122"/>
                <a:cs typeface="Calibri" pitchFamily="34" charset="-120"/>
              </a:rPr>
              <a:t>Some of you tried to read my lips.
</a:t>
            </a:r>
            <a:pPr indent="0" marL="0">
              <a:lnSpc>
                <a:spcPct val="130000"/>
              </a:lnSpc>
              <a:buNone/>
            </a:pPr>
            <a:r>
              <a:rPr lang="en-US" sz="2600" b="1" dirty="0">
                <a:solidFill>
                  <a:srgbClr val="D4AF37"/>
                </a:solidFill>
                <a:latin typeface="Calibri" pitchFamily="34" charset="0"/>
                <a:ea typeface="Calibri" pitchFamily="34" charset="-122"/>
                <a:cs typeface="Calibri" pitchFamily="34" charset="-120"/>
              </a:rPr>
              <a:t>Lip-reading tops out around 30% accuracy.</a:t>
            </a:r>
            <a:endParaRPr lang="en-US" sz="2600" dirty="0"/>
          </a:p>
        </p:txBody>
      </p:sp>
      <p:sp>
        <p:nvSpPr>
          <p:cNvPr id="6" name="Text 3"/>
          <p:cNvSpPr/>
          <p:nvPr/>
        </p:nvSpPr>
        <p:spPr>
          <a:xfrm>
            <a:off x="822960" y="4937760"/>
            <a:ext cx="9326880" cy="1097280"/>
          </a:xfrm>
          <a:prstGeom prst="rect">
            <a:avLst/>
          </a:prstGeom>
          <a:noFill/>
          <a:ln/>
        </p:spPr>
        <p:txBody>
          <a:bodyPr wrap="square" lIns="0" tIns="0" rIns="0" bIns="0" rtlCol="0" anchor="ctr"/>
          <a:lstStyle/>
          <a:p>
            <a:pPr indent="0" marL="0">
              <a:lnSpc>
                <a:spcPct val="130000"/>
              </a:lnSpc>
              <a:buNone/>
            </a:pPr>
            <a:r>
              <a:rPr lang="en-US" sz="2200" dirty="0">
                <a:solidFill>
                  <a:srgbClr val="8A7F4E"/>
                </a:solidFill>
                <a:latin typeface="Calibri" pitchFamily="34" charset="0"/>
                <a:ea typeface="Calibri" pitchFamily="34" charset="-122"/>
                <a:cs typeface="Calibri" pitchFamily="34" charset="-120"/>
              </a:rPr>
              <a:t>That was ten seconds. Now make it a lecture. A news broadcast.</a:t>
            </a:r>
            <a:endParaRPr lang="en-US" sz="2200" dirty="0"/>
          </a:p>
          <a:p>
            <a:pPr indent="0" marL="0">
              <a:lnSpc>
                <a:spcPct val="130000"/>
              </a:lnSpc>
              <a:buNone/>
            </a:pPr>
            <a:r>
              <a:rPr lang="en-US" sz="2200" dirty="0">
                <a:solidFill>
                  <a:srgbClr val="8A7F4E"/>
                </a:solidFill>
                <a:latin typeface="Calibri" pitchFamily="34" charset="0"/>
                <a:ea typeface="Calibri" pitchFamily="34" charset="-122"/>
                <a:cs typeface="Calibri" pitchFamily="34" charset="-120"/>
              </a:rPr>
              <a:t>A doctor reading you your results.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822960" y="1188720"/>
            <a:ext cx="10515600" cy="365760"/>
          </a:xfrm>
          <a:prstGeom prst="rect">
            <a:avLst/>
          </a:prstGeom>
          <a:noFill/>
          <a:ln/>
        </p:spPr>
        <p:txBody>
          <a:bodyPr wrap="square" lIns="0" tIns="0" rIns="0" bIns="0" rtlCol="0" anchor="ctr"/>
          <a:lstStyle/>
          <a:p>
            <a:pPr indent="0" marL="0">
              <a:buNone/>
            </a:pPr>
            <a:r>
              <a:rPr lang="en-US" sz="1300" b="1" spc="300" kern="0" dirty="0">
                <a:solidFill>
                  <a:srgbClr val="8A7F4E"/>
                </a:solidFill>
                <a:latin typeface="Calibri" pitchFamily="34" charset="0"/>
                <a:ea typeface="Calibri" pitchFamily="34" charset="-122"/>
                <a:cs typeface="Calibri" pitchFamily="34" charset="-120"/>
              </a:rPr>
              <a:t>SAME SILENCE  ·  SAME SENTENCE</a:t>
            </a:r>
            <a:endParaRPr lang="en-US" sz="1300" dirty="0"/>
          </a:p>
        </p:txBody>
      </p:sp>
      <p:sp>
        <p:nvSpPr>
          <p:cNvPr id="4" name="Shape 1"/>
          <p:cNvSpPr/>
          <p:nvPr/>
        </p:nvSpPr>
        <p:spPr>
          <a:xfrm>
            <a:off x="1737360" y="2377440"/>
            <a:ext cx="8686800" cy="2103120"/>
          </a:xfrm>
          <a:prstGeom prst="roundRect">
            <a:avLst>
              <a:gd name="adj" fmla="val 3478"/>
            </a:avLst>
          </a:prstGeom>
          <a:solidFill>
            <a:srgbClr val="000000"/>
          </a:solidFill>
          <a:ln w="31750">
            <a:solidFill>
              <a:srgbClr val="D4AF37"/>
            </a:solidFill>
            <a:prstDash val="solid"/>
          </a:ln>
          <a:effectLst>
            <a:outerShdw sx="100000" sy="100000" kx="0" ky="0" algn="bl" rotWithShape="0" blurRad="279400" dist="50800" dir="16200000">
              <a:srgbClr val="D4AF37">
                <a:alpha val="35000"/>
              </a:srgbClr>
            </a:outerShdw>
          </a:effectLst>
        </p:spPr>
      </p:sp>
      <p:sp>
        <p:nvSpPr>
          <p:cNvPr id="5" name="Shape 2"/>
          <p:cNvSpPr/>
          <p:nvPr/>
        </p:nvSpPr>
        <p:spPr>
          <a:xfrm>
            <a:off x="2011680" y="2615184"/>
            <a:ext cx="137160" cy="137160"/>
          </a:xfrm>
          <a:prstGeom prst="ellipse">
            <a:avLst/>
          </a:prstGeom>
          <a:solidFill>
            <a:srgbClr val="D4AF37"/>
          </a:solidFill>
          <a:ln/>
        </p:spPr>
      </p:sp>
      <p:sp>
        <p:nvSpPr>
          <p:cNvPr id="6" name="Text 3"/>
          <p:cNvSpPr/>
          <p:nvPr/>
        </p:nvSpPr>
        <p:spPr>
          <a:xfrm>
            <a:off x="2212848" y="2523744"/>
            <a:ext cx="914400" cy="320040"/>
          </a:xfrm>
          <a:prstGeom prst="rect">
            <a:avLst/>
          </a:prstGeom>
          <a:noFill/>
          <a:ln/>
        </p:spPr>
        <p:txBody>
          <a:bodyPr wrap="square" lIns="0" tIns="0" rIns="0" bIns="0" rtlCol="0" anchor="ctr"/>
          <a:lstStyle/>
          <a:p>
            <a:pPr indent="0" marL="0">
              <a:buNone/>
            </a:pPr>
            <a:r>
              <a:rPr lang="en-US" sz="1000" b="1" spc="200" kern="0" dirty="0">
                <a:solidFill>
                  <a:srgbClr val="D4AF37"/>
                </a:solidFill>
                <a:latin typeface="Calibri" pitchFamily="34" charset="0"/>
                <a:ea typeface="Calibri" pitchFamily="34" charset="-122"/>
                <a:cs typeface="Calibri" pitchFamily="34" charset="-120"/>
              </a:rPr>
              <a:t>LIVE</a:t>
            </a:r>
            <a:endParaRPr lang="en-US" sz="1000" dirty="0"/>
          </a:p>
        </p:txBody>
      </p:sp>
      <p:sp>
        <p:nvSpPr>
          <p:cNvPr id="7" name="Text 4"/>
          <p:cNvSpPr/>
          <p:nvPr/>
        </p:nvSpPr>
        <p:spPr>
          <a:xfrm>
            <a:off x="2011680" y="2377440"/>
            <a:ext cx="8138160" cy="2103120"/>
          </a:xfrm>
          <a:prstGeom prst="rect">
            <a:avLst/>
          </a:prstGeom>
          <a:noFill/>
          <a:ln/>
        </p:spPr>
        <p:txBody>
          <a:bodyPr wrap="square" lIns="0" tIns="0" rIns="0" bIns="0" rtlCol="0" anchor="ctr"/>
          <a:lstStyle/>
          <a:p>
            <a:pPr algn="ctr" indent="0" marL="0">
              <a:lnSpc>
                <a:spcPct val="120000"/>
              </a:lnSpc>
              <a:buNone/>
            </a:pPr>
            <a:r>
              <a:rPr lang="en-US" sz="3000" dirty="0">
                <a:solidFill>
                  <a:srgbClr val="FFFFFF"/>
                </a:solidFill>
                <a:latin typeface="Courier New" pitchFamily="34" charset="0"/>
                <a:ea typeface="Courier New" pitchFamily="34" charset="-122"/>
                <a:cs typeface="Courier New" pitchFamily="34" charset="-120"/>
              </a:rPr>
              <a:t>Hello. My name is Praful Bhatt.</a:t>
            </a:r>
            <a:endParaRPr lang="en-US" sz="3000" dirty="0"/>
          </a:p>
          <a:p>
            <a:pPr algn="ctr" indent="0" marL="0">
              <a:lnSpc>
                <a:spcPct val="120000"/>
              </a:lnSpc>
              <a:buNone/>
            </a:pPr>
            <a:r>
              <a:rPr lang="en-US" sz="3000" dirty="0">
                <a:solidFill>
                  <a:srgbClr val="FFFFFF"/>
                </a:solidFill>
                <a:latin typeface="Courier New" pitchFamily="34" charset="0"/>
                <a:ea typeface="Courier New" pitchFamily="34" charset="-122"/>
                <a:cs typeface="Courier New" pitchFamily="34" charset="-120"/>
              </a:rPr>
              <a:t>Thank you for having us.</a:t>
            </a:r>
            <a:endParaRPr lang="en-US" sz="3000" dirty="0"/>
          </a:p>
        </p:txBody>
      </p:sp>
      <p:sp>
        <p:nvSpPr>
          <p:cNvPr id="8" name="Text 5"/>
          <p:cNvSpPr/>
          <p:nvPr/>
        </p:nvSpPr>
        <p:spPr>
          <a:xfrm>
            <a:off x="822960" y="5120640"/>
            <a:ext cx="10515600" cy="731520"/>
          </a:xfrm>
          <a:prstGeom prst="rect">
            <a:avLst/>
          </a:prstGeom>
          <a:noFill/>
          <a:ln/>
        </p:spPr>
        <p:txBody>
          <a:bodyPr wrap="square" lIns="0" tIns="0" rIns="0" bIns="0" rtlCol="0" anchor="ctr"/>
          <a:lstStyle/>
          <a:p>
            <a:pPr algn="ctr" indent="0" marL="0">
              <a:buNone/>
            </a:pPr>
            <a:r>
              <a:rPr lang="en-US" sz="2600" dirty="0">
                <a:solidFill>
                  <a:srgbClr val="8A7F4E"/>
                </a:solidFill>
                <a:latin typeface="Calibri" pitchFamily="34" charset="0"/>
                <a:ea typeface="Calibri" pitchFamily="34" charset="-122"/>
                <a:cs typeface="Calibri" pitchFamily="34" charset="-120"/>
              </a:rPr>
              <a:t>One difference.</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822960" y="1463040"/>
            <a:ext cx="10515600" cy="1920240"/>
          </a:xfrm>
          <a:prstGeom prst="rect">
            <a:avLst/>
          </a:prstGeom>
          <a:noFill/>
          <a:ln/>
        </p:spPr>
        <p:txBody>
          <a:bodyPr wrap="square" lIns="0" tIns="0" rIns="0" bIns="0" rtlCol="0" anchor="ctr"/>
          <a:lstStyle/>
          <a:p>
            <a:pPr indent="0" marL="0">
              <a:lnSpc>
                <a:spcPct val="105000"/>
              </a:lnSpc>
              <a:buNone/>
            </a:pPr>
            <a:r>
              <a:rPr lang="en-US" sz="5800" b="1" dirty="0">
                <a:solidFill>
                  <a:srgbClr val="D4AF37"/>
                </a:solidFill>
                <a:latin typeface="Bookman Old Style" pitchFamily="34" charset="0"/>
                <a:ea typeface="Bookman Old Style" pitchFamily="34" charset="-122"/>
                <a:cs typeface="Bookman Old Style" pitchFamily="34" charset="-120"/>
              </a:rPr>
              <a:t>That is the whole</a:t>
            </a:r>
            <a:endParaRPr lang="en-US" sz="5800" dirty="0"/>
          </a:p>
          <a:p>
            <a:pPr indent="0" marL="0">
              <a:lnSpc>
                <a:spcPct val="105000"/>
              </a:lnSpc>
              <a:buNone/>
            </a:pPr>
            <a:r>
              <a:rPr lang="en-US" sz="5800" b="1" dirty="0">
                <a:solidFill>
                  <a:srgbClr val="D4AF37"/>
                </a:solidFill>
                <a:latin typeface="Bookman Old Style" pitchFamily="34" charset="0"/>
                <a:ea typeface="Bookman Old Style" pitchFamily="34" charset="-122"/>
                <a:cs typeface="Bookman Old Style" pitchFamily="34" charset="-120"/>
              </a:rPr>
              <a:t>product.</a:t>
            </a:r>
            <a:endParaRPr lang="en-US" sz="5800" dirty="0"/>
          </a:p>
        </p:txBody>
      </p:sp>
      <p:sp>
        <p:nvSpPr>
          <p:cNvPr id="4" name="Shape 1"/>
          <p:cNvSpPr/>
          <p:nvPr/>
        </p:nvSpPr>
        <p:spPr>
          <a:xfrm>
            <a:off x="822960" y="3657600"/>
            <a:ext cx="1005840" cy="54864"/>
          </a:xfrm>
          <a:prstGeom prst="rect">
            <a:avLst/>
          </a:prstGeom>
          <a:solidFill>
            <a:srgbClr val="D4AF37"/>
          </a:solidFill>
          <a:ln/>
        </p:spPr>
      </p:sp>
      <p:sp>
        <p:nvSpPr>
          <p:cNvPr id="5" name="Text 2"/>
          <p:cNvSpPr/>
          <p:nvPr/>
        </p:nvSpPr>
        <p:spPr>
          <a:xfrm>
            <a:off x="822960" y="4023360"/>
            <a:ext cx="9509760" cy="914400"/>
          </a:xfrm>
          <a:prstGeom prst="rect">
            <a:avLst/>
          </a:prstGeom>
          <a:noFill/>
          <a:ln/>
        </p:spPr>
        <p:txBody>
          <a:bodyPr wrap="square" lIns="0" tIns="0" rIns="0" bIns="0" rtlCol="0" anchor="ctr"/>
          <a:lstStyle/>
          <a:p>
            <a:pPr indent="0" marL="0">
              <a:lnSpc>
                <a:spcPct val="130000"/>
              </a:lnSpc>
              <a:buNone/>
            </a:pPr>
            <a:r>
              <a:rPr lang="en-US" sz="2500" dirty="0">
                <a:solidFill>
                  <a:srgbClr val="C5B358"/>
                </a:solidFill>
                <a:latin typeface="Calibri" pitchFamily="34" charset="0"/>
                <a:ea typeface="Calibri" pitchFamily="34" charset="-122"/>
                <a:cs typeface="Calibri" pitchFamily="34" charset="-120"/>
              </a:rPr>
              <a:t>Speech goes in. Readable captions come out, in the language the room needs.</a:t>
            </a:r>
            <a:endParaRPr lang="en-US" sz="2500" dirty="0"/>
          </a:p>
        </p:txBody>
      </p:sp>
      <p:sp>
        <p:nvSpPr>
          <p:cNvPr id="6" name="Text 3"/>
          <p:cNvSpPr/>
          <p:nvPr/>
        </p:nvSpPr>
        <p:spPr>
          <a:xfrm>
            <a:off x="822960" y="5120640"/>
            <a:ext cx="9509760" cy="1097280"/>
          </a:xfrm>
          <a:prstGeom prst="rect">
            <a:avLst/>
          </a:prstGeom>
          <a:noFill/>
          <a:ln/>
        </p:spPr>
        <p:txBody>
          <a:bodyPr wrap="square" lIns="0" tIns="0" rIns="0" bIns="0" rtlCol="0" anchor="ctr"/>
          <a:lstStyle/>
          <a:p>
            <a:pPr indent="0" marL="0">
              <a:lnSpc>
                <a:spcPct val="130000"/>
              </a:lnSpc>
              <a:buNone/>
            </a:pPr>
            <a:r>
              <a:rPr lang="en-US" sz="2200" dirty="0">
                <a:solidFill>
                  <a:srgbClr val="8A7F4E"/>
                </a:solidFill>
                <a:latin typeface="Calibri" pitchFamily="34" charset="0"/>
                <a:ea typeface="Calibri" pitchFamily="34" charset="-122"/>
                <a:cs typeface="Calibri" pitchFamily="34" charset="-120"/>
              </a:rPr>
              <a:t>We got one big thing wrong about who needs it.</a:t>
            </a:r>
            <a:endParaRPr lang="en-US" sz="2200" dirty="0"/>
          </a:p>
          <a:p>
            <a:pPr indent="0" marL="0">
              <a:lnSpc>
                <a:spcPct val="130000"/>
              </a:lnSpc>
              <a:buNone/>
            </a:pPr>
            <a:r>
              <a:rPr lang="en-US" sz="2200" dirty="0">
                <a:solidFill>
                  <a:srgbClr val="8A7F4E"/>
                </a:solidFill>
                <a:latin typeface="Calibri" pitchFamily="34" charset="0"/>
                <a:ea typeface="Calibri" pitchFamily="34" charset="-122"/>
                <a:cs typeface="Calibri" pitchFamily="34" charset="-120"/>
              </a:rPr>
              <a:t>We only found out because we asked.</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822960" y="548640"/>
            <a:ext cx="10515600" cy="365760"/>
          </a:xfrm>
          <a:prstGeom prst="rect">
            <a:avLst/>
          </a:prstGeom>
          <a:noFill/>
          <a:ln/>
        </p:spPr>
        <p:txBody>
          <a:bodyPr wrap="square" lIns="0" tIns="0" rIns="0" bIns="0" rtlCol="0" anchor="ctr"/>
          <a:lstStyle/>
          <a:p>
            <a:pPr indent="0" marL="0">
              <a:buNone/>
            </a:pPr>
            <a:r>
              <a:rPr lang="en-US" sz="1300" b="1" spc="300" kern="0" dirty="0">
                <a:solidFill>
                  <a:srgbClr val="8A7F4E"/>
                </a:solidFill>
                <a:latin typeface="Calibri" pitchFamily="34" charset="0"/>
                <a:ea typeface="Calibri" pitchFamily="34" charset="-122"/>
                <a:cs typeface="Calibri" pitchFamily="34" charset="-120"/>
              </a:rPr>
              <a:t>SO WE ASKED THE PEOPLE WHO WOULD HAVE TO LIVE WITH IT</a:t>
            </a:r>
            <a:endParaRPr lang="en-US" sz="1300" dirty="0"/>
          </a:p>
        </p:txBody>
      </p:sp>
      <p:sp>
        <p:nvSpPr>
          <p:cNvPr id="4" name="Text 1"/>
          <p:cNvSpPr/>
          <p:nvPr/>
        </p:nvSpPr>
        <p:spPr>
          <a:xfrm>
            <a:off x="822960" y="1051560"/>
            <a:ext cx="10515600" cy="731520"/>
          </a:xfrm>
          <a:prstGeom prst="rect">
            <a:avLst/>
          </a:prstGeom>
          <a:noFill/>
          <a:ln/>
        </p:spPr>
        <p:txBody>
          <a:bodyPr wrap="square" lIns="0" tIns="0" rIns="0" bIns="0" rtlCol="0" anchor="ctr"/>
          <a:lstStyle/>
          <a:p>
            <a:pPr indent="0" marL="0">
              <a:buNone/>
            </a:pPr>
            <a:r>
              <a:rPr lang="en-US" sz="3000" b="1" dirty="0">
                <a:solidFill>
                  <a:srgbClr val="D4AF37"/>
                </a:solidFill>
                <a:latin typeface="Bookman Old Style" pitchFamily="34" charset="0"/>
                <a:ea typeface="Bookman Old Style" pitchFamily="34" charset="-122"/>
                <a:cs typeface="Bookman Old Style" pitchFamily="34" charset="-120"/>
              </a:rPr>
              <a:t>NDFN · NFDN · Shruti Nepal · AFAN · Access Planet</a:t>
            </a:r>
            <a:endParaRPr lang="en-US" sz="3000" dirty="0"/>
          </a:p>
        </p:txBody>
      </p:sp>
      <p:sp>
        <p:nvSpPr>
          <p:cNvPr id="5" name="Shape 2"/>
          <p:cNvSpPr/>
          <p:nvPr/>
        </p:nvSpPr>
        <p:spPr>
          <a:xfrm>
            <a:off x="822960" y="2240280"/>
            <a:ext cx="54864" cy="1417320"/>
          </a:xfrm>
          <a:prstGeom prst="rect">
            <a:avLst/>
          </a:prstGeom>
          <a:solidFill>
            <a:srgbClr val="D4AF37"/>
          </a:solidFill>
          <a:ln/>
        </p:spPr>
      </p:sp>
      <p:sp>
        <p:nvSpPr>
          <p:cNvPr id="6" name="Text 3"/>
          <p:cNvSpPr/>
          <p:nvPr/>
        </p:nvSpPr>
        <p:spPr>
          <a:xfrm>
            <a:off x="1097280" y="2240280"/>
            <a:ext cx="10058400" cy="914400"/>
          </a:xfrm>
          <a:prstGeom prst="rect">
            <a:avLst/>
          </a:prstGeom>
          <a:noFill/>
          <a:ln/>
        </p:spPr>
        <p:txBody>
          <a:bodyPr wrap="square" lIns="0" tIns="0" rIns="0" bIns="0" rtlCol="0" anchor="ctr"/>
          <a:lstStyle/>
          <a:p>
            <a:pPr indent="0" marL="0">
              <a:lnSpc>
                <a:spcPct val="125000"/>
              </a:lnSpc>
              <a:buNone/>
            </a:pPr>
            <a:r>
              <a:rPr lang="en-US" sz="2100" i="1" dirty="0">
                <a:solidFill>
                  <a:srgbClr val="C5B358"/>
                </a:solidFill>
                <a:latin typeface="Calibri" pitchFamily="34" charset="0"/>
                <a:ea typeface="Calibri" pitchFamily="34" charset="-122"/>
                <a:cs typeface="Calibri" pitchFamily="34" charset="-120"/>
              </a:rPr>
              <a:t>“Captions alone cannot fully convey the linguistic structure, grammar, cultural context and richness of Nepali Sign Language.”</a:t>
            </a:r>
            <a:endParaRPr lang="en-US" sz="2100" dirty="0"/>
          </a:p>
        </p:txBody>
      </p:sp>
      <p:sp>
        <p:nvSpPr>
          <p:cNvPr id="7" name="Text 4"/>
          <p:cNvSpPr/>
          <p:nvPr/>
        </p:nvSpPr>
        <p:spPr>
          <a:xfrm>
            <a:off x="1097280" y="3200400"/>
            <a:ext cx="10058400" cy="411480"/>
          </a:xfrm>
          <a:prstGeom prst="rect">
            <a:avLst/>
          </a:prstGeom>
          <a:noFill/>
          <a:ln/>
        </p:spPr>
        <p:txBody>
          <a:bodyPr wrap="square" lIns="0" tIns="0" rIns="0" bIns="0" rtlCol="0" anchor="ctr"/>
          <a:lstStyle/>
          <a:p>
            <a:pPr indent="0" marL="0">
              <a:buNone/>
            </a:pPr>
            <a:r>
              <a:rPr lang="en-US" sz="1400" dirty="0">
                <a:solidFill>
                  <a:srgbClr val="8A7F4E"/>
                </a:solidFill>
                <a:latin typeface="Calibri" pitchFamily="34" charset="0"/>
                <a:ea typeface="Calibri" pitchFamily="34" charset="-122"/>
                <a:cs typeface="Calibri" pitchFamily="34" charset="-120"/>
              </a:rPr>
              <a:t>National Federation of the Deaf Nepal  ·  replied the same morning</a:t>
            </a:r>
            <a:endParaRPr lang="en-US" sz="1400" dirty="0"/>
          </a:p>
        </p:txBody>
      </p:sp>
      <p:sp>
        <p:nvSpPr>
          <p:cNvPr id="8" name="Shape 5"/>
          <p:cNvSpPr/>
          <p:nvPr/>
        </p:nvSpPr>
        <p:spPr>
          <a:xfrm>
            <a:off x="822960" y="4343400"/>
            <a:ext cx="54864" cy="1234440"/>
          </a:xfrm>
          <a:prstGeom prst="rect">
            <a:avLst/>
          </a:prstGeom>
          <a:solidFill>
            <a:srgbClr val="D4AF37"/>
          </a:solidFill>
          <a:ln/>
        </p:spPr>
      </p:sp>
      <p:sp>
        <p:nvSpPr>
          <p:cNvPr id="9" name="Text 6"/>
          <p:cNvSpPr/>
          <p:nvPr/>
        </p:nvSpPr>
        <p:spPr>
          <a:xfrm>
            <a:off x="1097280" y="4343400"/>
            <a:ext cx="10058400" cy="777240"/>
          </a:xfrm>
          <a:prstGeom prst="rect">
            <a:avLst/>
          </a:prstGeom>
          <a:noFill/>
          <a:ln/>
        </p:spPr>
        <p:txBody>
          <a:bodyPr wrap="square" lIns="0" tIns="0" rIns="0" bIns="0" rtlCol="0" anchor="ctr"/>
          <a:lstStyle/>
          <a:p>
            <a:pPr indent="0" marL="0">
              <a:lnSpc>
                <a:spcPct val="125000"/>
              </a:lnSpc>
              <a:buNone/>
            </a:pPr>
            <a:r>
              <a:rPr lang="en-US" sz="2100" i="1" dirty="0">
                <a:solidFill>
                  <a:srgbClr val="C5B358"/>
                </a:solidFill>
                <a:latin typeface="Calibri" pitchFamily="34" charset="0"/>
                <a:ea typeface="Calibri" pitchFamily="34" charset="-122"/>
                <a:cs typeface="Calibri" pitchFamily="34" charset="-120"/>
              </a:rPr>
              <a:t>“Captions should not be considered a replacement for sign language interpretation.”</a:t>
            </a:r>
            <a:endParaRPr lang="en-US" sz="2100" dirty="0"/>
          </a:p>
        </p:txBody>
      </p:sp>
      <p:sp>
        <p:nvSpPr>
          <p:cNvPr id="10" name="Text 7"/>
          <p:cNvSpPr/>
          <p:nvPr/>
        </p:nvSpPr>
        <p:spPr>
          <a:xfrm>
            <a:off x="1097280" y="5166360"/>
            <a:ext cx="10058400" cy="411480"/>
          </a:xfrm>
          <a:prstGeom prst="rect">
            <a:avLst/>
          </a:prstGeom>
          <a:noFill/>
          <a:ln/>
        </p:spPr>
        <p:txBody>
          <a:bodyPr wrap="square" lIns="0" tIns="0" rIns="0" bIns="0" rtlCol="0" anchor="ctr"/>
          <a:lstStyle/>
          <a:p>
            <a:pPr indent="0" marL="0">
              <a:buNone/>
            </a:pPr>
            <a:r>
              <a:rPr lang="en-US" sz="1400" dirty="0">
                <a:solidFill>
                  <a:srgbClr val="8A7F4E"/>
                </a:solidFill>
                <a:latin typeface="Calibri" pitchFamily="34" charset="0"/>
                <a:ea typeface="Calibri" pitchFamily="34" charset="-122"/>
                <a:cs typeface="Calibri" pitchFamily="34" charset="-120"/>
              </a:rPr>
              <a:t>Kushal Neupane  ·  National Federation of the Disabled Nepal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822960" y="548640"/>
            <a:ext cx="10515600" cy="365760"/>
          </a:xfrm>
          <a:prstGeom prst="rect">
            <a:avLst/>
          </a:prstGeom>
          <a:noFill/>
          <a:ln/>
        </p:spPr>
        <p:txBody>
          <a:bodyPr wrap="square" lIns="0" tIns="0" rIns="0" bIns="0" rtlCol="0" anchor="ctr"/>
          <a:lstStyle/>
          <a:p>
            <a:pPr indent="0" marL="0">
              <a:buNone/>
            </a:pPr>
            <a:r>
              <a:rPr lang="en-US" sz="1300" b="1" spc="300" kern="0" dirty="0">
                <a:solidFill>
                  <a:srgbClr val="8A7F4E"/>
                </a:solidFill>
                <a:latin typeface="Calibri" pitchFamily="34" charset="0"/>
                <a:ea typeface="Calibri" pitchFamily="34" charset="-122"/>
                <a:cs typeface="Calibri" pitchFamily="34" charset="-120"/>
              </a:rPr>
              <a:t>SO WE NARROWED IT</a:t>
            </a:r>
            <a:endParaRPr lang="en-US" sz="1300" dirty="0"/>
          </a:p>
        </p:txBody>
      </p:sp>
      <p:sp>
        <p:nvSpPr>
          <p:cNvPr id="4" name="Text 1"/>
          <p:cNvSpPr/>
          <p:nvPr/>
        </p:nvSpPr>
        <p:spPr>
          <a:xfrm>
            <a:off x="822960" y="1463040"/>
            <a:ext cx="5486400" cy="457200"/>
          </a:xfrm>
          <a:prstGeom prst="rect">
            <a:avLst/>
          </a:prstGeom>
          <a:noFill/>
          <a:ln/>
        </p:spPr>
        <p:txBody>
          <a:bodyPr wrap="square" lIns="0" tIns="0" rIns="0" bIns="0" rtlCol="0" anchor="ctr"/>
          <a:lstStyle/>
          <a:p>
            <a:pPr indent="0" marL="0">
              <a:buNone/>
            </a:pPr>
            <a:r>
              <a:rPr lang="en-US" sz="2000" strike="sngStrike" dirty="0">
                <a:solidFill>
                  <a:srgbClr val="8A7F4E"/>
                </a:solidFill>
                <a:latin typeface="Calibri" pitchFamily="34" charset="0"/>
                <a:ea typeface="Calibri" pitchFamily="34" charset="-122"/>
                <a:cs typeface="Calibri" pitchFamily="34" charset="-120"/>
              </a:rPr>
              <a:t>A captioning app for Deaf people</a:t>
            </a:r>
            <a:endParaRPr lang="en-US" sz="2000" dirty="0"/>
          </a:p>
        </p:txBody>
      </p:sp>
      <p:sp>
        <p:nvSpPr>
          <p:cNvPr id="5" name="Text 2"/>
          <p:cNvSpPr/>
          <p:nvPr/>
        </p:nvSpPr>
        <p:spPr>
          <a:xfrm>
            <a:off x="822960" y="2103120"/>
            <a:ext cx="5486400" cy="1463040"/>
          </a:xfrm>
          <a:prstGeom prst="rect">
            <a:avLst/>
          </a:prstGeom>
          <a:noFill/>
          <a:ln/>
        </p:spPr>
        <p:txBody>
          <a:bodyPr wrap="square" lIns="0" tIns="0" rIns="0" bIns="0" rtlCol="0" anchor="ctr"/>
          <a:lstStyle/>
          <a:p>
            <a:pPr indent="0" marL="0">
              <a:lnSpc>
                <a:spcPct val="110000"/>
              </a:lnSpc>
              <a:buNone/>
            </a:pPr>
            <a:r>
              <a:rPr lang="en-US" sz="3400" b="1" dirty="0">
                <a:solidFill>
                  <a:srgbClr val="D4AF37"/>
                </a:solidFill>
                <a:latin typeface="Bookman Old Style" pitchFamily="34" charset="0"/>
                <a:ea typeface="Bookman Old Style" pitchFamily="34" charset="-122"/>
                <a:cs typeface="Bookman Old Style" pitchFamily="34" charset="-120"/>
              </a:rPr>
              <a:t>Captions for people</a:t>
            </a:r>
            <a:endParaRPr lang="en-US" sz="3400" dirty="0"/>
          </a:p>
          <a:p>
            <a:pPr indent="0" marL="0">
              <a:lnSpc>
                <a:spcPct val="110000"/>
              </a:lnSpc>
              <a:buNone/>
            </a:pPr>
            <a:r>
              <a:rPr lang="en-US" sz="3400" b="1" dirty="0">
                <a:solidFill>
                  <a:srgbClr val="D4AF37"/>
                </a:solidFill>
                <a:latin typeface="Bookman Old Style" pitchFamily="34" charset="0"/>
                <a:ea typeface="Bookman Old Style" pitchFamily="34" charset="-122"/>
                <a:cs typeface="Bookman Old Style" pitchFamily="34" charset="-120"/>
              </a:rPr>
              <a:t>who read to listen</a:t>
            </a:r>
            <a:endParaRPr lang="en-US" sz="3400" dirty="0"/>
          </a:p>
        </p:txBody>
      </p:sp>
      <p:sp>
        <p:nvSpPr>
          <p:cNvPr id="6" name="Text 3"/>
          <p:cNvSpPr/>
          <p:nvPr/>
        </p:nvSpPr>
        <p:spPr>
          <a:xfrm>
            <a:off x="822960" y="3886200"/>
            <a:ext cx="5212080" cy="1188720"/>
          </a:xfrm>
          <a:prstGeom prst="rect">
            <a:avLst/>
          </a:prstGeom>
          <a:noFill/>
          <a:ln/>
        </p:spPr>
        <p:txBody>
          <a:bodyPr wrap="square" lIns="0" tIns="0" rIns="0" bIns="0" rtlCol="0" anchor="ctr"/>
          <a:lstStyle/>
          <a:p>
            <a:pPr indent="0" marL="0">
              <a:lnSpc>
                <a:spcPct val="130000"/>
              </a:lnSpc>
              <a:buNone/>
            </a:pPr>
            <a:r>
              <a:rPr lang="en-US" sz="1900" dirty="0">
                <a:solidFill>
                  <a:srgbClr val="C5B358"/>
                </a:solidFill>
                <a:latin typeface="Calibri" pitchFamily="34" charset="0"/>
                <a:ea typeface="Calibri" pitchFamily="34" charset="-122"/>
                <a:cs typeface="Calibri" pitchFamily="34" charset="-120"/>
              </a:rPr>
              <a:t>Hard of hearing. Late-deafened. Deafblind users whose assistive tech reads text.</a:t>
            </a:r>
            <a:endParaRPr lang="en-US" sz="1900" dirty="0"/>
          </a:p>
        </p:txBody>
      </p:sp>
      <p:sp>
        <p:nvSpPr>
          <p:cNvPr id="7" name="Text 4"/>
          <p:cNvSpPr/>
          <p:nvPr/>
        </p:nvSpPr>
        <p:spPr>
          <a:xfrm>
            <a:off x="6766560" y="1463040"/>
            <a:ext cx="4572000" cy="365760"/>
          </a:xfrm>
          <a:prstGeom prst="rect">
            <a:avLst/>
          </a:prstGeom>
          <a:noFill/>
          <a:ln/>
        </p:spPr>
        <p:txBody>
          <a:bodyPr wrap="square" lIns="0" tIns="0" rIns="0" bIns="0" rtlCol="0" anchor="ctr"/>
          <a:lstStyle/>
          <a:p>
            <a:pPr indent="0" marL="0">
              <a:buNone/>
            </a:pPr>
            <a:r>
              <a:rPr lang="en-US" sz="1300" b="1" spc="300" kern="0" dirty="0">
                <a:solidFill>
                  <a:srgbClr val="8A7F4E"/>
                </a:solidFill>
                <a:latin typeface="Calibri" pitchFamily="34" charset="0"/>
                <a:ea typeface="Calibri" pitchFamily="34" charset="-122"/>
                <a:cs typeface="Calibri" pitchFamily="34" charset="-120"/>
              </a:rPr>
              <a:t>SERVED TODAY BY</a:t>
            </a:r>
            <a:endParaRPr lang="en-US" sz="1300" dirty="0"/>
          </a:p>
        </p:txBody>
      </p:sp>
      <p:sp>
        <p:nvSpPr>
          <p:cNvPr id="8" name="Text 5"/>
          <p:cNvSpPr/>
          <p:nvPr/>
        </p:nvSpPr>
        <p:spPr>
          <a:xfrm>
            <a:off x="6766560" y="1920240"/>
            <a:ext cx="4754880" cy="1371600"/>
          </a:xfrm>
          <a:prstGeom prst="rect">
            <a:avLst/>
          </a:prstGeom>
          <a:noFill/>
          <a:ln/>
        </p:spPr>
        <p:txBody>
          <a:bodyPr wrap="square" lIns="0" tIns="0" rIns="0" bIns="0" rtlCol="0" anchor="ctr"/>
          <a:lstStyle/>
          <a:p>
            <a:pPr indent="0" marL="0">
              <a:lnSpc>
                <a:spcPct val="105000"/>
              </a:lnSpc>
              <a:buNone/>
            </a:pPr>
            <a:r>
              <a:rPr lang="en-US" sz="4000" b="1" dirty="0">
                <a:solidFill>
                  <a:srgbClr val="D4AF37"/>
                </a:solidFill>
                <a:latin typeface="Bookman Old Style" pitchFamily="34" charset="0"/>
                <a:ea typeface="Bookman Old Style" pitchFamily="34" charset="-122"/>
                <a:cs typeface="Bookman Old Style" pitchFamily="34" charset="-120"/>
              </a:rPr>
              <a:t>almost nothing
</a:t>
            </a:r>
            <a:pPr indent="0" marL="0">
              <a:lnSpc>
                <a:spcPct val="105000"/>
              </a:lnSpc>
              <a:buNone/>
            </a:pPr>
            <a:r>
              <a:rPr lang="en-US" sz="2600" b="1" dirty="0">
                <a:solidFill>
                  <a:srgbClr val="C5B358"/>
                </a:solidFill>
                <a:latin typeface="Bookman Old Style" pitchFamily="34" charset="0"/>
                <a:ea typeface="Bookman Old Style" pitchFamily="34" charset="-122"/>
                <a:cs typeface="Bookman Old Style" pitchFamily="34" charset="-120"/>
              </a:rPr>
              <a:t>in Nepali</a:t>
            </a:r>
            <a:endParaRPr lang="en-US" sz="4000" dirty="0"/>
          </a:p>
        </p:txBody>
      </p:sp>
      <p:sp>
        <p:nvSpPr>
          <p:cNvPr id="9" name="Text 6"/>
          <p:cNvSpPr/>
          <p:nvPr/>
        </p:nvSpPr>
        <p:spPr>
          <a:xfrm>
            <a:off x="6766560" y="3566160"/>
            <a:ext cx="4754880" cy="1371600"/>
          </a:xfrm>
          <a:prstGeom prst="rect">
            <a:avLst/>
          </a:prstGeom>
          <a:noFill/>
          <a:ln/>
        </p:spPr>
        <p:txBody>
          <a:bodyPr wrap="square" lIns="0" tIns="0" rIns="0" bIns="0" rtlCol="0" anchor="ctr"/>
          <a:lstStyle/>
          <a:p>
            <a:pPr indent="0" marL="0">
              <a:lnSpc>
                <a:spcPct val="105000"/>
              </a:lnSpc>
              <a:buNone/>
            </a:pPr>
            <a:r>
              <a:rPr lang="en-US" sz="4000" b="1" dirty="0">
                <a:solidFill>
                  <a:srgbClr val="D4AF37"/>
                </a:solidFill>
                <a:latin typeface="Bookman Old Style" pitchFamily="34" charset="0"/>
                <a:ea typeface="Bookman Old Style" pitchFamily="34" charset="-122"/>
                <a:cs typeface="Bookman Old Style" pitchFamily="34" charset="-120"/>
              </a:rPr>
              <a:t>nothing at all
</a:t>
            </a:r>
            <a:pPr indent="0" marL="0">
              <a:lnSpc>
                <a:spcPct val="105000"/>
              </a:lnSpc>
              <a:buNone/>
            </a:pPr>
            <a:r>
              <a:rPr lang="en-US" sz="2600" b="1" dirty="0">
                <a:solidFill>
                  <a:srgbClr val="C5B358"/>
                </a:solidFill>
                <a:latin typeface="Bookman Old Style" pitchFamily="34" charset="0"/>
                <a:ea typeface="Bookman Old Style" pitchFamily="34" charset="-122"/>
                <a:cs typeface="Bookman Old Style" pitchFamily="34" charset="-120"/>
              </a:rPr>
              <a:t>in Maithili</a:t>
            </a:r>
            <a:endParaRPr lang="en-US" sz="4000" dirty="0"/>
          </a:p>
        </p:txBody>
      </p:sp>
      <p:sp>
        <p:nvSpPr>
          <p:cNvPr id="10" name="Text 7"/>
          <p:cNvSpPr/>
          <p:nvPr/>
        </p:nvSpPr>
        <p:spPr>
          <a:xfrm>
            <a:off x="6766560" y="5074920"/>
            <a:ext cx="4754880" cy="457200"/>
          </a:xfrm>
          <a:prstGeom prst="rect">
            <a:avLst/>
          </a:prstGeom>
          <a:noFill/>
          <a:ln/>
        </p:spPr>
        <p:txBody>
          <a:bodyPr wrap="square" lIns="0" tIns="0" rIns="0" bIns="0" rtlCol="0" anchor="ctr"/>
          <a:lstStyle/>
          <a:p>
            <a:pPr indent="0" marL="0">
              <a:buNone/>
            </a:pPr>
            <a:r>
              <a:rPr lang="en-US" sz="1400" dirty="0">
                <a:solidFill>
                  <a:srgbClr val="8A7F4E"/>
                </a:solidFill>
                <a:latin typeface="Calibri" pitchFamily="34" charset="0"/>
                <a:ea typeface="Calibri" pitchFamily="34" charset="-122"/>
                <a:cs typeface="Calibri" pitchFamily="34" charset="-120"/>
              </a:rPr>
              <a:t>Maithili: second most spoken language in Nepal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822960" y="548640"/>
            <a:ext cx="10515600" cy="365760"/>
          </a:xfrm>
          <a:prstGeom prst="rect">
            <a:avLst/>
          </a:prstGeom>
          <a:noFill/>
          <a:ln/>
        </p:spPr>
        <p:txBody>
          <a:bodyPr wrap="square" lIns="0" tIns="0" rIns="0" bIns="0" rtlCol="0" anchor="ctr"/>
          <a:lstStyle/>
          <a:p>
            <a:pPr indent="0" marL="0">
              <a:buNone/>
            </a:pPr>
            <a:r>
              <a:rPr lang="en-US" sz="1300" b="1" spc="300" kern="0" dirty="0">
                <a:solidFill>
                  <a:srgbClr val="8A7F4E"/>
                </a:solidFill>
                <a:latin typeface="Calibri" pitchFamily="34" charset="0"/>
                <a:ea typeface="Calibri" pitchFamily="34" charset="-122"/>
                <a:cs typeface="Calibri" pitchFamily="34" charset="-120"/>
              </a:rPr>
              <a:t>EVERYONE WE TALKED TO, IN ONE DAY</a:t>
            </a:r>
            <a:endParaRPr lang="en-US" sz="1300" dirty="0"/>
          </a:p>
        </p:txBody>
      </p:sp>
      <p:sp>
        <p:nvSpPr>
          <p:cNvPr id="4" name="Shape 1"/>
          <p:cNvSpPr/>
          <p:nvPr/>
        </p:nvSpPr>
        <p:spPr>
          <a:xfrm>
            <a:off x="822960" y="1536192"/>
            <a:ext cx="310896" cy="310896"/>
          </a:xfrm>
          <a:prstGeom prst="ellipse">
            <a:avLst/>
          </a:prstGeom>
          <a:solidFill>
            <a:srgbClr val="D4AF37"/>
          </a:solidFill>
          <a:ln/>
        </p:spPr>
      </p:sp>
      <p:sp>
        <p:nvSpPr>
          <p:cNvPr id="5" name="Text 2"/>
          <p:cNvSpPr/>
          <p:nvPr/>
        </p:nvSpPr>
        <p:spPr>
          <a:xfrm>
            <a:off x="822960" y="1536192"/>
            <a:ext cx="310896" cy="310896"/>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1</a:t>
            </a:r>
            <a:endParaRPr lang="en-US" sz="1400" dirty="0"/>
          </a:p>
        </p:txBody>
      </p:sp>
      <p:sp>
        <p:nvSpPr>
          <p:cNvPr id="6" name="Text 3"/>
          <p:cNvSpPr/>
          <p:nvPr/>
        </p:nvSpPr>
        <p:spPr>
          <a:xfrm>
            <a:off x="1371600" y="1417320"/>
            <a:ext cx="10241280" cy="685800"/>
          </a:xfrm>
          <a:prstGeom prst="rect">
            <a:avLst/>
          </a:prstGeom>
          <a:noFill/>
          <a:ln/>
        </p:spPr>
        <p:txBody>
          <a:bodyPr wrap="square" lIns="0" tIns="0" rIns="0" bIns="0" rtlCol="0" anchor="ctr"/>
          <a:lstStyle/>
          <a:p>
            <a:pPr indent="0" marL="0">
              <a:lnSpc>
                <a:spcPct val="120000"/>
              </a:lnSpc>
              <a:buNone/>
            </a:pPr>
            <a:r>
              <a:rPr lang="en-US" sz="1900" b="1" dirty="0">
                <a:solidFill>
                  <a:srgbClr val="D4AF37"/>
                </a:solidFill>
                <a:latin typeface="Calibri" pitchFamily="34" charset="0"/>
                <a:ea typeface="Calibri" pitchFamily="34" charset="-122"/>
                <a:cs typeface="Calibri" pitchFamily="34" charset="-120"/>
              </a:rPr>
              <a:t>NDFN  </a:t>
            </a:r>
            <a:pPr indent="0" marL="0">
              <a:lnSpc>
                <a:spcPct val="120000"/>
              </a:lnSpc>
              <a:buNone/>
            </a:pPr>
            <a:r>
              <a:rPr lang="en-US" sz="1900" dirty="0">
                <a:solidFill>
                  <a:srgbClr val="C5B358"/>
                </a:solidFill>
                <a:latin typeface="Calibri" pitchFamily="34" charset="0"/>
                <a:ea typeface="Calibri" pitchFamily="34" charset="-122"/>
                <a:cs typeface="Calibri" pitchFamily="34" charset="-120"/>
              </a:rPr>
              <a:t>national Deaf federation, WFD member. Scoped us correctly.</a:t>
            </a:r>
            <a:endParaRPr lang="en-US" sz="1900" dirty="0"/>
          </a:p>
        </p:txBody>
      </p:sp>
      <p:sp>
        <p:nvSpPr>
          <p:cNvPr id="7" name="Shape 4"/>
          <p:cNvSpPr/>
          <p:nvPr/>
        </p:nvSpPr>
        <p:spPr>
          <a:xfrm>
            <a:off x="822960" y="2450592"/>
            <a:ext cx="310896" cy="310896"/>
          </a:xfrm>
          <a:prstGeom prst="ellipse">
            <a:avLst/>
          </a:prstGeom>
          <a:solidFill>
            <a:srgbClr val="D4AF37"/>
          </a:solidFill>
          <a:ln/>
        </p:spPr>
      </p:sp>
      <p:sp>
        <p:nvSpPr>
          <p:cNvPr id="8" name="Text 5"/>
          <p:cNvSpPr/>
          <p:nvPr/>
        </p:nvSpPr>
        <p:spPr>
          <a:xfrm>
            <a:off x="822960" y="2450592"/>
            <a:ext cx="310896" cy="310896"/>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2</a:t>
            </a:r>
            <a:endParaRPr lang="en-US" sz="1400" dirty="0"/>
          </a:p>
        </p:txBody>
      </p:sp>
      <p:sp>
        <p:nvSpPr>
          <p:cNvPr id="9" name="Text 6"/>
          <p:cNvSpPr/>
          <p:nvPr/>
        </p:nvSpPr>
        <p:spPr>
          <a:xfrm>
            <a:off x="1371600" y="2331720"/>
            <a:ext cx="10241280" cy="685800"/>
          </a:xfrm>
          <a:prstGeom prst="rect">
            <a:avLst/>
          </a:prstGeom>
          <a:noFill/>
          <a:ln/>
        </p:spPr>
        <p:txBody>
          <a:bodyPr wrap="square" lIns="0" tIns="0" rIns="0" bIns="0" rtlCol="0" anchor="ctr"/>
          <a:lstStyle/>
          <a:p>
            <a:pPr indent="0" marL="0">
              <a:lnSpc>
                <a:spcPct val="120000"/>
              </a:lnSpc>
              <a:buNone/>
            </a:pPr>
            <a:r>
              <a:rPr lang="en-US" sz="1900" b="1" dirty="0">
                <a:solidFill>
                  <a:srgbClr val="D4AF37"/>
                </a:solidFill>
                <a:latin typeface="Calibri" pitchFamily="34" charset="0"/>
                <a:ea typeface="Calibri" pitchFamily="34" charset="-122"/>
                <a:cs typeface="Calibri" pitchFamily="34" charset="-120"/>
              </a:rPr>
              <a:t>Kushal Neupane, NFDN  </a:t>
            </a:r>
            <a:pPr indent="0" marL="0">
              <a:lnSpc>
                <a:spcPct val="120000"/>
              </a:lnSpc>
              <a:buNone/>
            </a:pPr>
            <a:r>
              <a:rPr lang="en-US" sz="1900" dirty="0">
                <a:solidFill>
                  <a:srgbClr val="C5B358"/>
                </a:solidFill>
                <a:latin typeface="Calibri" pitchFamily="34" charset="0"/>
                <a:ea typeface="Calibri" pitchFamily="34" charset="-122"/>
                <a:cs typeface="Calibri" pitchFamily="34" charset="-120"/>
              </a:rPr>
              <a:t>30-minute call. Confirmed the use case. Offered to facilitate a pilot.</a:t>
            </a:r>
            <a:endParaRPr lang="en-US" sz="1900" dirty="0"/>
          </a:p>
        </p:txBody>
      </p:sp>
      <p:sp>
        <p:nvSpPr>
          <p:cNvPr id="10" name="Shape 7"/>
          <p:cNvSpPr/>
          <p:nvPr/>
        </p:nvSpPr>
        <p:spPr>
          <a:xfrm>
            <a:off x="822960" y="3364992"/>
            <a:ext cx="310896" cy="310896"/>
          </a:xfrm>
          <a:prstGeom prst="ellipse">
            <a:avLst/>
          </a:prstGeom>
          <a:solidFill>
            <a:srgbClr val="D4AF37"/>
          </a:solidFill>
          <a:ln/>
        </p:spPr>
      </p:sp>
      <p:sp>
        <p:nvSpPr>
          <p:cNvPr id="11" name="Text 8"/>
          <p:cNvSpPr/>
          <p:nvPr/>
        </p:nvSpPr>
        <p:spPr>
          <a:xfrm>
            <a:off x="822960" y="3364992"/>
            <a:ext cx="310896" cy="310896"/>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3</a:t>
            </a:r>
            <a:endParaRPr lang="en-US" sz="1400" dirty="0"/>
          </a:p>
        </p:txBody>
      </p:sp>
      <p:sp>
        <p:nvSpPr>
          <p:cNvPr id="12" name="Text 9"/>
          <p:cNvSpPr/>
          <p:nvPr/>
        </p:nvSpPr>
        <p:spPr>
          <a:xfrm>
            <a:off x="1371600" y="3246120"/>
            <a:ext cx="10241280" cy="685800"/>
          </a:xfrm>
          <a:prstGeom prst="rect">
            <a:avLst/>
          </a:prstGeom>
          <a:noFill/>
          <a:ln/>
        </p:spPr>
        <p:txBody>
          <a:bodyPr wrap="square" lIns="0" tIns="0" rIns="0" bIns="0" rtlCol="0" anchor="ctr"/>
          <a:lstStyle/>
          <a:p>
            <a:pPr indent="0" marL="0">
              <a:lnSpc>
                <a:spcPct val="120000"/>
              </a:lnSpc>
              <a:buNone/>
            </a:pPr>
            <a:r>
              <a:rPr lang="en-US" sz="1900" b="1" dirty="0">
                <a:solidFill>
                  <a:srgbClr val="D4AF37"/>
                </a:solidFill>
                <a:latin typeface="Calibri" pitchFamily="34" charset="0"/>
                <a:ea typeface="Calibri" pitchFamily="34" charset="-122"/>
                <a:cs typeface="Calibri" pitchFamily="34" charset="-120"/>
              </a:rPr>
              <a:t>Saugat Singh, KU  </a:t>
            </a:r>
            <a:pPr indent="0" marL="0">
              <a:lnSpc>
                <a:spcPct val="120000"/>
              </a:lnSpc>
              <a:buNone/>
            </a:pPr>
            <a:r>
              <a:rPr lang="en-US" sz="1900" dirty="0">
                <a:solidFill>
                  <a:srgbClr val="C5B358"/>
                </a:solidFill>
                <a:latin typeface="Calibri" pitchFamily="34" charset="0"/>
                <a:ea typeface="Calibri" pitchFamily="34" charset="-122"/>
                <a:cs typeface="Calibri" pitchFamily="34" charset="-120"/>
              </a:rPr>
              <a:t>NSL recognition thesis with Kavre School for the Deaf. Gave us caption data.</a:t>
            </a:r>
            <a:endParaRPr lang="en-US" sz="1900" dirty="0"/>
          </a:p>
        </p:txBody>
      </p:sp>
      <p:sp>
        <p:nvSpPr>
          <p:cNvPr id="13" name="Shape 10"/>
          <p:cNvSpPr/>
          <p:nvPr/>
        </p:nvSpPr>
        <p:spPr>
          <a:xfrm>
            <a:off x="822960" y="4279392"/>
            <a:ext cx="310896" cy="310896"/>
          </a:xfrm>
          <a:prstGeom prst="ellipse">
            <a:avLst/>
          </a:prstGeom>
          <a:solidFill>
            <a:srgbClr val="D4AF37"/>
          </a:solidFill>
          <a:ln/>
        </p:spPr>
      </p:sp>
      <p:sp>
        <p:nvSpPr>
          <p:cNvPr id="14" name="Text 11"/>
          <p:cNvSpPr/>
          <p:nvPr/>
        </p:nvSpPr>
        <p:spPr>
          <a:xfrm>
            <a:off x="822960" y="4279392"/>
            <a:ext cx="310896" cy="310896"/>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4</a:t>
            </a:r>
            <a:endParaRPr lang="en-US" sz="1400" dirty="0"/>
          </a:p>
        </p:txBody>
      </p:sp>
      <p:sp>
        <p:nvSpPr>
          <p:cNvPr id="15" name="Text 12"/>
          <p:cNvSpPr/>
          <p:nvPr/>
        </p:nvSpPr>
        <p:spPr>
          <a:xfrm>
            <a:off x="1371600" y="4160520"/>
            <a:ext cx="10241280" cy="685800"/>
          </a:xfrm>
          <a:prstGeom prst="rect">
            <a:avLst/>
          </a:prstGeom>
          <a:noFill/>
          <a:ln/>
        </p:spPr>
        <p:txBody>
          <a:bodyPr wrap="square" lIns="0" tIns="0" rIns="0" bIns="0" rtlCol="0" anchor="ctr"/>
          <a:lstStyle/>
          <a:p>
            <a:pPr indent="0" marL="0">
              <a:lnSpc>
                <a:spcPct val="120000"/>
              </a:lnSpc>
              <a:buNone/>
            </a:pPr>
            <a:r>
              <a:rPr lang="en-US" sz="1900" b="1" dirty="0">
                <a:solidFill>
                  <a:srgbClr val="D4AF37"/>
                </a:solidFill>
                <a:latin typeface="Calibri" pitchFamily="34" charset="0"/>
                <a:ea typeface="Calibri" pitchFamily="34" charset="-122"/>
                <a:cs typeface="Calibri" pitchFamily="34" charset="-120"/>
              </a:rPr>
              <a:t>Bipesh Raj Subedi, KU ILPRL  </a:t>
            </a:r>
            <a:pPr indent="0" marL="0">
              <a:lnSpc>
                <a:spcPct val="120000"/>
              </a:lnSpc>
              <a:buNone/>
            </a:pPr>
            <a:r>
              <a:rPr lang="en-US" sz="1900" dirty="0">
                <a:solidFill>
                  <a:srgbClr val="C5B358"/>
                </a:solidFill>
                <a:latin typeface="Calibri" pitchFamily="34" charset="0"/>
                <a:ea typeface="Calibri" pitchFamily="34" charset="-122"/>
                <a:cs typeface="Calibri" pitchFamily="34" charset="-120"/>
              </a:rPr>
              <a:t>edge cases in Nepali language processing.</a:t>
            </a:r>
            <a:endParaRPr lang="en-US" sz="1900" dirty="0"/>
          </a:p>
        </p:txBody>
      </p:sp>
      <p:sp>
        <p:nvSpPr>
          <p:cNvPr id="16" name="Shape 13"/>
          <p:cNvSpPr/>
          <p:nvPr/>
        </p:nvSpPr>
        <p:spPr>
          <a:xfrm>
            <a:off x="822960" y="5257800"/>
            <a:ext cx="1005840" cy="54864"/>
          </a:xfrm>
          <a:prstGeom prst="rect">
            <a:avLst/>
          </a:prstGeom>
          <a:solidFill>
            <a:srgbClr val="D4AF37"/>
          </a:solidFill>
          <a:ln/>
        </p:spPr>
      </p:sp>
      <p:sp>
        <p:nvSpPr>
          <p:cNvPr id="17" name="Text 14"/>
          <p:cNvSpPr/>
          <p:nvPr/>
        </p:nvSpPr>
        <p:spPr>
          <a:xfrm>
            <a:off x="822960" y="5577840"/>
            <a:ext cx="10424160" cy="640080"/>
          </a:xfrm>
          <a:prstGeom prst="rect">
            <a:avLst/>
          </a:prstGeom>
          <a:noFill/>
          <a:ln/>
        </p:spPr>
        <p:txBody>
          <a:bodyPr wrap="square" lIns="0" tIns="0" rIns="0" bIns="0" rtlCol="0" anchor="ctr"/>
          <a:lstStyle/>
          <a:p>
            <a:pPr indent="0" marL="0">
              <a:buNone/>
            </a:pPr>
            <a:r>
              <a:rPr lang="en-US" sz="2400" dirty="0">
                <a:solidFill>
                  <a:srgbClr val="C5B358"/>
                </a:solidFill>
                <a:latin typeface="Calibri" pitchFamily="34" charset="0"/>
                <a:ea typeface="Calibri" pitchFamily="34" charset="-122"/>
                <a:cs typeface="Calibri" pitchFamily="34" charset="-120"/>
              </a:rPr>
              <a:t>Users session with hard-of-hearing participants: </a:t>
            </a:r>
            <a:pPr indent="0" marL="0">
              <a:buNone/>
            </a:pPr>
            <a:r>
              <a:rPr lang="en-US" sz="2400" b="1" dirty="0">
                <a:solidFill>
                  <a:srgbClr val="D4AF37"/>
                </a:solidFill>
                <a:latin typeface="Calibri" pitchFamily="34" charset="0"/>
                <a:ea typeface="Calibri" pitchFamily="34" charset="-122"/>
                <a:cs typeface="Calibri" pitchFamily="34" charset="-120"/>
              </a:rPr>
              <a:t>booked for tomorrow.</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822960" y="548640"/>
            <a:ext cx="10515600" cy="365760"/>
          </a:xfrm>
          <a:prstGeom prst="rect">
            <a:avLst/>
          </a:prstGeom>
          <a:noFill/>
          <a:ln/>
        </p:spPr>
        <p:txBody>
          <a:bodyPr wrap="square" lIns="0" tIns="0" rIns="0" bIns="0" rtlCol="0" anchor="ctr"/>
          <a:lstStyle/>
          <a:p>
            <a:pPr indent="0" marL="0">
              <a:buNone/>
            </a:pPr>
            <a:r>
              <a:rPr lang="en-US" sz="1300" b="1" spc="300" kern="0" dirty="0">
                <a:solidFill>
                  <a:srgbClr val="8A7F4E"/>
                </a:solidFill>
                <a:latin typeface="Calibri" pitchFamily="34" charset="0"/>
                <a:ea typeface="Calibri" pitchFamily="34" charset="-122"/>
                <a:cs typeface="Calibri" pitchFamily="34" charset="-120"/>
              </a:rPr>
              <a:t>THE BUILD</a:t>
            </a:r>
            <a:endParaRPr lang="en-US" sz="1300" dirty="0"/>
          </a:p>
        </p:txBody>
      </p:sp>
      <p:pic>
        <p:nvPicPr>
          <p:cNvPr id="4" name="Image 0" descr="landing_clean.png">    </p:cNvPr>
          <p:cNvPicPr>
            <a:picLocks noChangeAspect="1"/>
          </p:cNvPicPr>
          <p:nvPr/>
        </p:nvPicPr>
        <p:blipFill>
          <a:blip r:embed="rId1"/>
          <a:stretch>
            <a:fillRect/>
          </a:stretch>
        </p:blipFill>
        <p:spPr>
          <a:xfrm>
            <a:off x="822960" y="1417320"/>
            <a:ext cx="6583680" cy="3474720"/>
          </a:xfrm>
          <a:prstGeom prst="rect">
            <a:avLst/>
          </a:prstGeom>
        </p:spPr>
      </p:pic>
      <p:sp>
        <p:nvSpPr>
          <p:cNvPr id="5" name="Text 1"/>
          <p:cNvSpPr/>
          <p:nvPr/>
        </p:nvSpPr>
        <p:spPr>
          <a:xfrm>
            <a:off x="7772400" y="1554480"/>
            <a:ext cx="3749040" cy="1463040"/>
          </a:xfrm>
          <a:prstGeom prst="rect">
            <a:avLst/>
          </a:prstGeom>
          <a:noFill/>
          <a:ln/>
        </p:spPr>
        <p:txBody>
          <a:bodyPr wrap="square" lIns="0" tIns="0" rIns="0" bIns="0" rtlCol="0" anchor="ctr"/>
          <a:lstStyle/>
          <a:p>
            <a:pPr indent="0" marL="0">
              <a:lnSpc>
                <a:spcPct val="105000"/>
              </a:lnSpc>
              <a:buNone/>
            </a:pPr>
            <a:r>
              <a:rPr lang="en-US" sz="3600" b="1" dirty="0">
                <a:solidFill>
                  <a:srgbClr val="D4AF37"/>
                </a:solidFill>
                <a:latin typeface="Bookman Old Style" pitchFamily="34" charset="0"/>
                <a:ea typeface="Bookman Old Style" pitchFamily="34" charset="-122"/>
                <a:cs typeface="Bookman Old Style" pitchFamily="34" charset="-120"/>
              </a:rPr>
              <a:t>Speech in.</a:t>
            </a:r>
            <a:endParaRPr lang="en-US" sz="3600" dirty="0"/>
          </a:p>
          <a:p>
            <a:pPr indent="0" marL="0">
              <a:lnSpc>
                <a:spcPct val="105000"/>
              </a:lnSpc>
              <a:buNone/>
            </a:pPr>
            <a:r>
              <a:rPr lang="en-US" sz="3600" b="1" dirty="0">
                <a:solidFill>
                  <a:srgbClr val="D4AF37"/>
                </a:solidFill>
                <a:latin typeface="Bookman Old Style" pitchFamily="34" charset="0"/>
                <a:ea typeface="Bookman Old Style" pitchFamily="34" charset="-122"/>
                <a:cs typeface="Bookman Old Style" pitchFamily="34" charset="-120"/>
              </a:rPr>
              <a:t>Captions out.</a:t>
            </a:r>
            <a:endParaRPr lang="en-US" sz="3600" dirty="0"/>
          </a:p>
        </p:txBody>
      </p:sp>
      <p:sp>
        <p:nvSpPr>
          <p:cNvPr id="6" name="Text 2"/>
          <p:cNvSpPr/>
          <p:nvPr/>
        </p:nvSpPr>
        <p:spPr>
          <a:xfrm>
            <a:off x="7772400" y="3200400"/>
            <a:ext cx="3749040" cy="1097280"/>
          </a:xfrm>
          <a:prstGeom prst="rect">
            <a:avLst/>
          </a:prstGeom>
          <a:noFill/>
          <a:ln/>
        </p:spPr>
        <p:txBody>
          <a:bodyPr wrap="square" lIns="0" tIns="0" rIns="0" bIns="0" rtlCol="0" anchor="ctr"/>
          <a:lstStyle/>
          <a:p>
            <a:pPr indent="0" marL="0">
              <a:lnSpc>
                <a:spcPct val="130000"/>
              </a:lnSpc>
              <a:buNone/>
            </a:pPr>
            <a:r>
              <a:rPr lang="en-US" sz="1900" dirty="0">
                <a:solidFill>
                  <a:srgbClr val="C5B358"/>
                </a:solidFill>
                <a:latin typeface="Calibri" pitchFamily="34" charset="0"/>
                <a:ea typeface="Calibri" pitchFamily="34" charset="-122"/>
                <a:cs typeface="Calibri" pitchFamily="34" charset="-120"/>
              </a:rPr>
              <a:t>Nepali, Maithili or English audio to a timed </a:t>
            </a:r>
            <a:pPr indent="0" marL="0">
              <a:lnSpc>
                <a:spcPct val="130000"/>
              </a:lnSpc>
              <a:buNone/>
            </a:pPr>
            <a:r>
              <a:rPr lang="en-US" sz="1900" b="1" dirty="0">
                <a:solidFill>
                  <a:srgbClr val="D4AF37"/>
                </a:solidFill>
                <a:latin typeface="Calibri" pitchFamily="34" charset="0"/>
                <a:ea typeface="Calibri" pitchFamily="34" charset="-122"/>
                <a:cs typeface="Calibri" pitchFamily="34" charset="-120"/>
              </a:rPr>
              <a:t>.srt / .vtt</a:t>
            </a:r>
            <a:pPr indent="0" marL="0">
              <a:lnSpc>
                <a:spcPct val="130000"/>
              </a:lnSpc>
              <a:buNone/>
            </a:pPr>
            <a:r>
              <a:rPr lang="en-US" sz="1900" dirty="0">
                <a:solidFill>
                  <a:srgbClr val="C5B358"/>
                </a:solidFill>
                <a:latin typeface="Calibri" pitchFamily="34" charset="0"/>
                <a:ea typeface="Calibri" pitchFamily="34" charset="-122"/>
                <a:cs typeface="Calibri" pitchFamily="34" charset="-120"/>
              </a:rPr>
              <a:t> file.</a:t>
            </a:r>
            <a:endParaRPr lang="en-US" sz="1900" dirty="0"/>
          </a:p>
        </p:txBody>
      </p:sp>
      <p:sp>
        <p:nvSpPr>
          <p:cNvPr id="7" name="Text 3"/>
          <p:cNvSpPr/>
          <p:nvPr/>
        </p:nvSpPr>
        <p:spPr>
          <a:xfrm>
            <a:off x="7772400" y="4343400"/>
            <a:ext cx="3749040" cy="1005840"/>
          </a:xfrm>
          <a:prstGeom prst="rect">
            <a:avLst/>
          </a:prstGeom>
          <a:noFill/>
          <a:ln/>
        </p:spPr>
        <p:txBody>
          <a:bodyPr wrap="square" lIns="0" tIns="0" rIns="0" bIns="0" rtlCol="0" anchor="ctr"/>
          <a:lstStyle/>
          <a:p>
            <a:pPr indent="0" marL="0">
              <a:lnSpc>
                <a:spcPct val="130000"/>
              </a:lnSpc>
              <a:buNone/>
            </a:pPr>
            <a:r>
              <a:rPr lang="en-US" sz="1900" dirty="0">
                <a:solidFill>
                  <a:srgbClr val="C5B358"/>
                </a:solidFill>
                <a:latin typeface="Calibri" pitchFamily="34" charset="0"/>
                <a:ea typeface="Calibri" pitchFamily="34" charset="-122"/>
                <a:cs typeface="Calibri" pitchFamily="34" charset="-120"/>
              </a:rPr>
              <a:t>Same language, or translated into either of the other two.</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822960" y="548640"/>
            <a:ext cx="10515600" cy="365760"/>
          </a:xfrm>
          <a:prstGeom prst="rect">
            <a:avLst/>
          </a:prstGeom>
          <a:noFill/>
          <a:ln/>
        </p:spPr>
        <p:txBody>
          <a:bodyPr wrap="square" lIns="0" tIns="0" rIns="0" bIns="0" rtlCol="0" anchor="ctr"/>
          <a:lstStyle/>
          <a:p>
            <a:pPr indent="0" marL="0">
              <a:buNone/>
            </a:pPr>
            <a:r>
              <a:rPr lang="en-US" sz="1300" b="1" spc="300" kern="0" dirty="0">
                <a:solidFill>
                  <a:srgbClr val="8A7F4E"/>
                </a:solidFill>
                <a:latin typeface="Calibri" pitchFamily="34" charset="0"/>
                <a:ea typeface="Calibri" pitchFamily="34" charset="-122"/>
                <a:cs typeface="Calibri" pitchFamily="34" charset="-120"/>
              </a:rPr>
              <a:t>GEMMA 4 IS NOT A COMPONENT. IT IS THE SYSTEM.</a:t>
            </a:r>
            <a:endParaRPr lang="en-US" sz="1300" dirty="0"/>
          </a:p>
        </p:txBody>
      </p:sp>
      <p:sp>
        <p:nvSpPr>
          <p:cNvPr id="4" name="Text 1"/>
          <p:cNvSpPr/>
          <p:nvPr/>
        </p:nvSpPr>
        <p:spPr>
          <a:xfrm>
            <a:off x="822960" y="1325880"/>
            <a:ext cx="10515600" cy="1737360"/>
          </a:xfrm>
          <a:prstGeom prst="rect">
            <a:avLst/>
          </a:prstGeom>
          <a:noFill/>
          <a:ln/>
        </p:spPr>
        <p:txBody>
          <a:bodyPr wrap="square" lIns="0" tIns="0" rIns="0" bIns="0" rtlCol="0" anchor="ctr"/>
          <a:lstStyle/>
          <a:p>
            <a:pPr indent="0" marL="0">
              <a:lnSpc>
                <a:spcPct val="105000"/>
              </a:lnSpc>
              <a:buNone/>
            </a:pPr>
            <a:r>
              <a:rPr lang="en-US" sz="5000" b="1" dirty="0">
                <a:solidFill>
                  <a:srgbClr val="D4AF37"/>
                </a:solidFill>
                <a:latin typeface="Bookman Old Style" pitchFamily="34" charset="0"/>
                <a:ea typeface="Bookman Old Style" pitchFamily="34" charset="-122"/>
                <a:cs typeface="Bookman Old Style" pitchFamily="34" charset="-120"/>
              </a:rPr>
              <a:t>Audio in. Captions out.</a:t>
            </a:r>
            <a:endParaRPr lang="en-US" sz="5000" dirty="0"/>
          </a:p>
          <a:p>
            <a:pPr indent="0" marL="0">
              <a:lnSpc>
                <a:spcPct val="105000"/>
              </a:lnSpc>
              <a:buNone/>
            </a:pPr>
            <a:r>
              <a:rPr lang="en-US" sz="5000" b="1" dirty="0">
                <a:solidFill>
                  <a:srgbClr val="D4AF37"/>
                </a:solidFill>
                <a:latin typeface="Bookman Old Style" pitchFamily="34" charset="0"/>
                <a:ea typeface="Bookman Old Style" pitchFamily="34" charset="-122"/>
                <a:cs typeface="Bookman Old Style" pitchFamily="34" charset="-120"/>
              </a:rPr>
              <a:t>Nothing in between.</a:t>
            </a:r>
            <a:endParaRPr lang="en-US" sz="5000" dirty="0"/>
          </a:p>
        </p:txBody>
      </p:sp>
      <p:sp>
        <p:nvSpPr>
          <p:cNvPr id="5" name="Shape 2"/>
          <p:cNvSpPr/>
          <p:nvPr/>
        </p:nvSpPr>
        <p:spPr>
          <a:xfrm>
            <a:off x="822960" y="3383280"/>
            <a:ext cx="1005840" cy="54864"/>
          </a:xfrm>
          <a:prstGeom prst="rect">
            <a:avLst/>
          </a:prstGeom>
          <a:solidFill>
            <a:srgbClr val="D4AF37"/>
          </a:solidFill>
          <a:ln/>
        </p:spPr>
      </p:sp>
      <p:sp>
        <p:nvSpPr>
          <p:cNvPr id="6" name="Text 3"/>
          <p:cNvSpPr/>
          <p:nvPr/>
        </p:nvSpPr>
        <p:spPr>
          <a:xfrm>
            <a:off x="822960" y="3840480"/>
            <a:ext cx="5669280" cy="1645920"/>
          </a:xfrm>
          <a:prstGeom prst="rect">
            <a:avLst/>
          </a:prstGeom>
          <a:noFill/>
          <a:ln/>
        </p:spPr>
        <p:txBody>
          <a:bodyPr wrap="square" lIns="0" tIns="0" rIns="0" bIns="0" rtlCol="0" anchor="ctr"/>
          <a:lstStyle/>
          <a:p>
            <a:pPr indent="0" marL="0">
              <a:lnSpc>
                <a:spcPct val="135000"/>
              </a:lnSpc>
              <a:buNone/>
            </a:pPr>
            <a:r>
              <a:rPr lang="en-US" sz="2300" dirty="0">
                <a:solidFill>
                  <a:srgbClr val="C5B358"/>
                </a:solidFill>
                <a:latin typeface="Calibri" pitchFamily="34" charset="0"/>
                <a:ea typeface="Calibri" pitchFamily="34" charset="-122"/>
                <a:cs typeface="Calibri" pitchFamily="34" charset="-120"/>
              </a:rPr>
              <a:t>No Whisper. No cloud speech API.
</a:t>
            </a:r>
            <a:pPr indent="0" marL="0">
              <a:lnSpc>
                <a:spcPct val="135000"/>
              </a:lnSpc>
              <a:buNone/>
            </a:pPr>
            <a:r>
              <a:rPr lang="en-US" sz="2300" b="1" dirty="0">
                <a:solidFill>
                  <a:srgbClr val="D4AF37"/>
                </a:solidFill>
                <a:latin typeface="Calibri" pitchFamily="34" charset="0"/>
                <a:ea typeface="Calibri" pitchFamily="34" charset="-122"/>
                <a:cs typeface="Calibri" pitchFamily="34" charset="-120"/>
              </a:rPr>
              <a:t>Take Gemma out and there is nothing left to demo.</a:t>
            </a:r>
            <a:endParaRPr lang="en-US" sz="2300" dirty="0"/>
          </a:p>
        </p:txBody>
      </p:sp>
      <p:sp>
        <p:nvSpPr>
          <p:cNvPr id="7" name="Text 4"/>
          <p:cNvSpPr/>
          <p:nvPr/>
        </p:nvSpPr>
        <p:spPr>
          <a:xfrm>
            <a:off x="7223760" y="3611880"/>
            <a:ext cx="1371600" cy="1554480"/>
          </a:xfrm>
          <a:prstGeom prst="rect">
            <a:avLst/>
          </a:prstGeom>
          <a:noFill/>
          <a:ln/>
        </p:spPr>
        <p:txBody>
          <a:bodyPr wrap="square" lIns="0" tIns="0" rIns="0" bIns="0" rtlCol="0" anchor="ctr"/>
          <a:lstStyle/>
          <a:p>
            <a:pPr algn="ctr" indent="0" marL="0">
              <a:buNone/>
            </a:pPr>
            <a:r>
              <a:rPr lang="en-US" sz="9600" b="1" dirty="0">
                <a:solidFill>
                  <a:srgbClr val="D4AF37"/>
                </a:solidFill>
                <a:latin typeface="Bookman Old Style" pitchFamily="34" charset="0"/>
                <a:ea typeface="Bookman Old Style" pitchFamily="34" charset="-122"/>
                <a:cs typeface="Bookman Old Style" pitchFamily="34" charset="-120"/>
              </a:rPr>
              <a:t>9</a:t>
            </a:r>
            <a:endParaRPr lang="en-US" sz="9600" dirty="0"/>
          </a:p>
        </p:txBody>
      </p:sp>
      <p:sp>
        <p:nvSpPr>
          <p:cNvPr id="8" name="Text 5"/>
          <p:cNvSpPr/>
          <p:nvPr/>
        </p:nvSpPr>
        <p:spPr>
          <a:xfrm>
            <a:off x="8595360" y="3703320"/>
            <a:ext cx="2926080" cy="1645920"/>
          </a:xfrm>
          <a:prstGeom prst="rect">
            <a:avLst/>
          </a:prstGeom>
          <a:noFill/>
          <a:ln/>
        </p:spPr>
        <p:txBody>
          <a:bodyPr wrap="square" lIns="0" tIns="0" rIns="0" bIns="0" rtlCol="0" anchor="ctr"/>
          <a:lstStyle/>
          <a:p>
            <a:pPr indent="0" marL="0">
              <a:lnSpc>
                <a:spcPct val="125000"/>
              </a:lnSpc>
              <a:buNone/>
            </a:pPr>
            <a:r>
              <a:rPr lang="en-US" sz="1600" dirty="0">
                <a:solidFill>
                  <a:srgbClr val="C5B358"/>
                </a:solidFill>
                <a:latin typeface="Calibri" pitchFamily="34" charset="0"/>
                <a:ea typeface="Calibri" pitchFamily="34" charset="-122"/>
                <a:cs typeface="Calibri" pitchFamily="34" charset="-120"/>
              </a:rPr>
              <a:t>behaviours from one adapter: 3 transcription, 6 translation directions. Selected by instruction, not by a router.</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822960" y="548640"/>
            <a:ext cx="10515600" cy="365760"/>
          </a:xfrm>
          <a:prstGeom prst="rect">
            <a:avLst/>
          </a:prstGeom>
          <a:noFill/>
          <a:ln/>
        </p:spPr>
        <p:txBody>
          <a:bodyPr wrap="square" lIns="0" tIns="0" rIns="0" bIns="0" rtlCol="0" anchor="ctr"/>
          <a:lstStyle/>
          <a:p>
            <a:pPr indent="0" marL="0">
              <a:buNone/>
            </a:pPr>
            <a:r>
              <a:rPr lang="en-US" sz="1300" b="1" spc="300" kern="0" dirty="0">
                <a:solidFill>
                  <a:srgbClr val="8A7F4E"/>
                </a:solidFill>
                <a:latin typeface="Calibri" pitchFamily="34" charset="0"/>
                <a:ea typeface="Calibri" pitchFamily="34" charset="-122"/>
                <a:cs typeface="Calibri" pitchFamily="34" charset="-120"/>
              </a:rPr>
              <a:t>HOW IT IS TRAINED</a:t>
            </a:r>
            <a:endParaRPr lang="en-US" sz="1300" dirty="0"/>
          </a:p>
        </p:txBody>
      </p:sp>
      <p:sp>
        <p:nvSpPr>
          <p:cNvPr id="4" name="Shape 1"/>
          <p:cNvSpPr/>
          <p:nvPr/>
        </p:nvSpPr>
        <p:spPr>
          <a:xfrm>
            <a:off x="822960" y="1609344"/>
            <a:ext cx="329184" cy="329184"/>
          </a:xfrm>
          <a:prstGeom prst="ellipse">
            <a:avLst/>
          </a:prstGeom>
          <a:solidFill>
            <a:srgbClr val="D4AF37"/>
          </a:solidFill>
          <a:ln/>
        </p:spPr>
      </p:sp>
      <p:sp>
        <p:nvSpPr>
          <p:cNvPr id="5" name="Text 2"/>
          <p:cNvSpPr/>
          <p:nvPr/>
        </p:nvSpPr>
        <p:spPr>
          <a:xfrm>
            <a:off x="822960" y="1609344"/>
            <a:ext cx="329184" cy="329184"/>
          </a:xfrm>
          <a:prstGeom prst="rect">
            <a:avLst/>
          </a:prstGeom>
          <a:noFill/>
          <a:ln/>
        </p:spPr>
        <p:txBody>
          <a:bodyPr wrap="square" lIns="0" tIns="0" rIns="0" bIns="0"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1</a:t>
            </a:r>
            <a:endParaRPr lang="en-US" sz="1500" dirty="0"/>
          </a:p>
        </p:txBody>
      </p:sp>
      <p:sp>
        <p:nvSpPr>
          <p:cNvPr id="6" name="Text 3"/>
          <p:cNvSpPr/>
          <p:nvPr/>
        </p:nvSpPr>
        <p:spPr>
          <a:xfrm>
            <a:off x="1417320" y="1463040"/>
            <a:ext cx="2834640" cy="640080"/>
          </a:xfrm>
          <a:prstGeom prst="rect">
            <a:avLst/>
          </a:prstGeom>
          <a:noFill/>
          <a:ln/>
        </p:spPr>
        <p:txBody>
          <a:bodyPr wrap="square" lIns="0" tIns="0" rIns="0" bIns="0" rtlCol="0" anchor="ctr"/>
          <a:lstStyle/>
          <a:p>
            <a:pPr indent="0" marL="0">
              <a:buNone/>
            </a:pPr>
            <a:r>
              <a:rPr lang="en-US" sz="2100" b="1" dirty="0">
                <a:solidFill>
                  <a:srgbClr val="D4AF37"/>
                </a:solidFill>
                <a:latin typeface="Calibri" pitchFamily="34" charset="0"/>
                <a:ea typeface="Calibri" pitchFamily="34" charset="-122"/>
                <a:cs typeface="Calibri" pitchFamily="34" charset="-120"/>
              </a:rPr>
              <a:t>LoRA fine-tune</a:t>
            </a:r>
            <a:endParaRPr lang="en-US" sz="2100" dirty="0"/>
          </a:p>
        </p:txBody>
      </p:sp>
      <p:sp>
        <p:nvSpPr>
          <p:cNvPr id="7" name="Text 4"/>
          <p:cNvSpPr/>
          <p:nvPr/>
        </p:nvSpPr>
        <p:spPr>
          <a:xfrm>
            <a:off x="3566160" y="1463040"/>
            <a:ext cx="7680960" cy="731520"/>
          </a:xfrm>
          <a:prstGeom prst="rect">
            <a:avLst/>
          </a:prstGeom>
          <a:noFill/>
          <a:ln/>
        </p:spPr>
        <p:txBody>
          <a:bodyPr wrap="square" lIns="0" tIns="0" rIns="0" bIns="0" rtlCol="0" anchor="ctr"/>
          <a:lstStyle/>
          <a:p>
            <a:pPr indent="0" marL="0">
              <a:lnSpc>
                <a:spcPct val="120000"/>
              </a:lnSpc>
              <a:buNone/>
            </a:pPr>
            <a:r>
              <a:rPr lang="en-US" sz="1900" dirty="0">
                <a:solidFill>
                  <a:srgbClr val="C5B358"/>
                </a:solidFill>
                <a:latin typeface="Calibri" pitchFamily="34" charset="0"/>
                <a:ea typeface="Calibri" pitchFamily="34" charset="-122"/>
                <a:cs typeface="Calibri" pitchFamily="34" charset="-120"/>
              </a:rPr>
              <a:t>Gemma 4 E4B, audio-native, via Transformers + PEFT</a:t>
            </a:r>
            <a:endParaRPr lang="en-US" sz="1900" dirty="0"/>
          </a:p>
        </p:txBody>
      </p:sp>
      <p:sp>
        <p:nvSpPr>
          <p:cNvPr id="8" name="Shape 5"/>
          <p:cNvSpPr/>
          <p:nvPr/>
        </p:nvSpPr>
        <p:spPr>
          <a:xfrm>
            <a:off x="822960" y="2743200"/>
            <a:ext cx="329184" cy="329184"/>
          </a:xfrm>
          <a:prstGeom prst="ellipse">
            <a:avLst/>
          </a:prstGeom>
          <a:solidFill>
            <a:srgbClr val="D4AF37"/>
          </a:solidFill>
          <a:ln/>
        </p:spPr>
      </p:sp>
      <p:sp>
        <p:nvSpPr>
          <p:cNvPr id="9" name="Text 6"/>
          <p:cNvSpPr/>
          <p:nvPr/>
        </p:nvSpPr>
        <p:spPr>
          <a:xfrm>
            <a:off x="822960" y="2743200"/>
            <a:ext cx="329184" cy="329184"/>
          </a:xfrm>
          <a:prstGeom prst="rect">
            <a:avLst/>
          </a:prstGeom>
          <a:noFill/>
          <a:ln/>
        </p:spPr>
        <p:txBody>
          <a:bodyPr wrap="square" lIns="0" tIns="0" rIns="0" bIns="0"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2</a:t>
            </a:r>
            <a:endParaRPr lang="en-US" sz="1500" dirty="0"/>
          </a:p>
        </p:txBody>
      </p:sp>
      <p:sp>
        <p:nvSpPr>
          <p:cNvPr id="10" name="Text 7"/>
          <p:cNvSpPr/>
          <p:nvPr/>
        </p:nvSpPr>
        <p:spPr>
          <a:xfrm>
            <a:off x="1417320" y="2596896"/>
            <a:ext cx="2834640" cy="640080"/>
          </a:xfrm>
          <a:prstGeom prst="rect">
            <a:avLst/>
          </a:prstGeom>
          <a:noFill/>
          <a:ln/>
        </p:spPr>
        <p:txBody>
          <a:bodyPr wrap="square" lIns="0" tIns="0" rIns="0" bIns="0" rtlCol="0" anchor="ctr"/>
          <a:lstStyle/>
          <a:p>
            <a:pPr indent="0" marL="0">
              <a:buNone/>
            </a:pPr>
            <a:r>
              <a:rPr lang="en-US" sz="2100" b="1" dirty="0">
                <a:solidFill>
                  <a:srgbClr val="D4AF37"/>
                </a:solidFill>
                <a:latin typeface="Calibri" pitchFamily="34" charset="0"/>
                <a:ea typeface="Calibri" pitchFamily="34" charset="-122"/>
                <a:cs typeface="Calibri" pitchFamily="34" charset="-120"/>
              </a:rPr>
              <a:t>Multitask mix</a:t>
            </a:r>
            <a:endParaRPr lang="en-US" sz="2100" dirty="0"/>
          </a:p>
        </p:txBody>
      </p:sp>
      <p:sp>
        <p:nvSpPr>
          <p:cNvPr id="11" name="Text 8"/>
          <p:cNvSpPr/>
          <p:nvPr/>
        </p:nvSpPr>
        <p:spPr>
          <a:xfrm>
            <a:off x="3566160" y="2596896"/>
            <a:ext cx="7680960" cy="731520"/>
          </a:xfrm>
          <a:prstGeom prst="rect">
            <a:avLst/>
          </a:prstGeom>
          <a:noFill/>
          <a:ln/>
        </p:spPr>
        <p:txBody>
          <a:bodyPr wrap="square" lIns="0" tIns="0" rIns="0" bIns="0" rtlCol="0" anchor="ctr"/>
          <a:lstStyle/>
          <a:p>
            <a:pPr indent="0" marL="0">
              <a:lnSpc>
                <a:spcPct val="120000"/>
              </a:lnSpc>
              <a:buNone/>
            </a:pPr>
            <a:r>
              <a:rPr lang="en-US" sz="1900" dirty="0">
                <a:solidFill>
                  <a:srgbClr val="C5B358"/>
                </a:solidFill>
                <a:latin typeface="Calibri" pitchFamily="34" charset="0"/>
                <a:ea typeface="Calibri" pitchFamily="34" charset="-122"/>
                <a:cs typeface="Calibri" pitchFamily="34" charset="-120"/>
              </a:rPr>
              <a:t>captioning and speech translation trained together, not bolted on after</a:t>
            </a:r>
            <a:endParaRPr lang="en-US" sz="1900" dirty="0"/>
          </a:p>
        </p:txBody>
      </p:sp>
      <p:sp>
        <p:nvSpPr>
          <p:cNvPr id="12" name="Shape 9"/>
          <p:cNvSpPr/>
          <p:nvPr/>
        </p:nvSpPr>
        <p:spPr>
          <a:xfrm>
            <a:off x="822960" y="3877056"/>
            <a:ext cx="329184" cy="329184"/>
          </a:xfrm>
          <a:prstGeom prst="ellipse">
            <a:avLst/>
          </a:prstGeom>
          <a:solidFill>
            <a:srgbClr val="D4AF37"/>
          </a:solidFill>
          <a:ln/>
        </p:spPr>
      </p:sp>
      <p:sp>
        <p:nvSpPr>
          <p:cNvPr id="13" name="Text 10"/>
          <p:cNvSpPr/>
          <p:nvPr/>
        </p:nvSpPr>
        <p:spPr>
          <a:xfrm>
            <a:off x="822960" y="3877056"/>
            <a:ext cx="329184" cy="329184"/>
          </a:xfrm>
          <a:prstGeom prst="rect">
            <a:avLst/>
          </a:prstGeom>
          <a:noFill/>
          <a:ln/>
        </p:spPr>
        <p:txBody>
          <a:bodyPr wrap="square" lIns="0" tIns="0" rIns="0" bIns="0"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3</a:t>
            </a:r>
            <a:endParaRPr lang="en-US" sz="1500" dirty="0"/>
          </a:p>
        </p:txBody>
      </p:sp>
      <p:sp>
        <p:nvSpPr>
          <p:cNvPr id="14" name="Text 11"/>
          <p:cNvSpPr/>
          <p:nvPr/>
        </p:nvSpPr>
        <p:spPr>
          <a:xfrm>
            <a:off x="1417320" y="3730752"/>
            <a:ext cx="2834640" cy="640080"/>
          </a:xfrm>
          <a:prstGeom prst="rect">
            <a:avLst/>
          </a:prstGeom>
          <a:noFill/>
          <a:ln/>
        </p:spPr>
        <p:txBody>
          <a:bodyPr wrap="square" lIns="0" tIns="0" rIns="0" bIns="0" rtlCol="0" anchor="ctr"/>
          <a:lstStyle/>
          <a:p>
            <a:pPr indent="0" marL="0">
              <a:buNone/>
            </a:pPr>
            <a:r>
              <a:rPr lang="en-US" sz="2100" b="1" dirty="0">
                <a:solidFill>
                  <a:srgbClr val="D4AF37"/>
                </a:solidFill>
                <a:latin typeface="Calibri" pitchFamily="34" charset="0"/>
                <a:ea typeface="Calibri" pitchFamily="34" charset="-122"/>
                <a:cs typeface="Calibri" pitchFamily="34" charset="-120"/>
              </a:rPr>
              <a:t>Kept balanced</a:t>
            </a:r>
            <a:endParaRPr lang="en-US" sz="2100" dirty="0"/>
          </a:p>
        </p:txBody>
      </p:sp>
      <p:sp>
        <p:nvSpPr>
          <p:cNvPr id="15" name="Text 12"/>
          <p:cNvSpPr/>
          <p:nvPr/>
        </p:nvSpPr>
        <p:spPr>
          <a:xfrm>
            <a:off x="3566160" y="3730752"/>
            <a:ext cx="7680960" cy="731520"/>
          </a:xfrm>
          <a:prstGeom prst="rect">
            <a:avLst/>
          </a:prstGeom>
          <a:noFill/>
          <a:ln/>
        </p:spPr>
        <p:txBody>
          <a:bodyPr wrap="square" lIns="0" tIns="0" rIns="0" bIns="0" rtlCol="0" anchor="ctr"/>
          <a:lstStyle/>
          <a:p>
            <a:pPr indent="0" marL="0">
              <a:lnSpc>
                <a:spcPct val="120000"/>
              </a:lnSpc>
              <a:buNone/>
            </a:pPr>
            <a:r>
              <a:rPr lang="en-US" sz="1900" dirty="0">
                <a:solidFill>
                  <a:srgbClr val="C5B358"/>
                </a:solidFill>
                <a:latin typeface="Calibri" pitchFamily="34" charset="0"/>
                <a:ea typeface="Calibri" pitchFamily="34" charset="-122"/>
                <a:cs typeface="Calibri" pitchFamily="34" charset="-120"/>
              </a:rPr>
              <a:t>no task allowed to dominate. Nine good behaviours, not one plus eight demos.</a:t>
            </a:r>
            <a:endParaRPr lang="en-US" sz="1900" dirty="0"/>
          </a:p>
        </p:txBody>
      </p:sp>
      <p:sp>
        <p:nvSpPr>
          <p:cNvPr id="16" name="Shape 13"/>
          <p:cNvSpPr/>
          <p:nvPr/>
        </p:nvSpPr>
        <p:spPr>
          <a:xfrm>
            <a:off x="822960" y="5010912"/>
            <a:ext cx="329184" cy="329184"/>
          </a:xfrm>
          <a:prstGeom prst="ellipse">
            <a:avLst/>
          </a:prstGeom>
          <a:solidFill>
            <a:srgbClr val="D4AF37"/>
          </a:solidFill>
          <a:ln/>
        </p:spPr>
      </p:sp>
      <p:sp>
        <p:nvSpPr>
          <p:cNvPr id="17" name="Text 14"/>
          <p:cNvSpPr/>
          <p:nvPr/>
        </p:nvSpPr>
        <p:spPr>
          <a:xfrm>
            <a:off x="822960" y="5010912"/>
            <a:ext cx="329184" cy="329184"/>
          </a:xfrm>
          <a:prstGeom prst="rect">
            <a:avLst/>
          </a:prstGeom>
          <a:noFill/>
          <a:ln/>
        </p:spPr>
        <p:txBody>
          <a:bodyPr wrap="square" lIns="0" tIns="0" rIns="0" bIns="0"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4</a:t>
            </a:r>
            <a:endParaRPr lang="en-US" sz="1500" dirty="0"/>
          </a:p>
        </p:txBody>
      </p:sp>
      <p:sp>
        <p:nvSpPr>
          <p:cNvPr id="18" name="Text 15"/>
          <p:cNvSpPr/>
          <p:nvPr/>
        </p:nvSpPr>
        <p:spPr>
          <a:xfrm>
            <a:off x="1417320" y="4864608"/>
            <a:ext cx="2834640" cy="640080"/>
          </a:xfrm>
          <a:prstGeom prst="rect">
            <a:avLst/>
          </a:prstGeom>
          <a:noFill/>
          <a:ln/>
        </p:spPr>
        <p:txBody>
          <a:bodyPr wrap="square" lIns="0" tIns="0" rIns="0" bIns="0" rtlCol="0" anchor="ctr"/>
          <a:lstStyle/>
          <a:p>
            <a:pPr indent="0" marL="0">
              <a:buNone/>
            </a:pPr>
            <a:r>
              <a:rPr lang="en-US" sz="2100" b="1" dirty="0">
                <a:solidFill>
                  <a:srgbClr val="D4AF37"/>
                </a:solidFill>
                <a:latin typeface="Calibri" pitchFamily="34" charset="0"/>
                <a:ea typeface="Calibri" pitchFamily="34" charset="-122"/>
                <a:cs typeface="Calibri" pitchFamily="34" charset="-120"/>
              </a:rPr>
              <a:t>E4B on purpose</a:t>
            </a:r>
            <a:endParaRPr lang="en-US" sz="2100" dirty="0"/>
          </a:p>
        </p:txBody>
      </p:sp>
      <p:sp>
        <p:nvSpPr>
          <p:cNvPr id="19" name="Text 16"/>
          <p:cNvSpPr/>
          <p:nvPr/>
        </p:nvSpPr>
        <p:spPr>
          <a:xfrm>
            <a:off x="3566160" y="4864608"/>
            <a:ext cx="7680960" cy="731520"/>
          </a:xfrm>
          <a:prstGeom prst="rect">
            <a:avLst/>
          </a:prstGeom>
          <a:noFill/>
          <a:ln/>
        </p:spPr>
        <p:txBody>
          <a:bodyPr wrap="square" lIns="0" tIns="0" rIns="0" bIns="0" rtlCol="0" anchor="ctr"/>
          <a:lstStyle/>
          <a:p>
            <a:pPr indent="0" marL="0">
              <a:lnSpc>
                <a:spcPct val="120000"/>
              </a:lnSpc>
              <a:buNone/>
            </a:pPr>
            <a:r>
              <a:rPr lang="en-US" sz="1900" dirty="0">
                <a:solidFill>
                  <a:srgbClr val="C5B358"/>
                </a:solidFill>
                <a:latin typeface="Calibri" pitchFamily="34" charset="0"/>
                <a:ea typeface="Calibri" pitchFamily="34" charset="-122"/>
                <a:cs typeface="Calibri" pitchFamily="34" charset="-120"/>
              </a:rPr>
              <a:t>edge-deployable. A clinic should not ship a patient's appointment to a cloud API.</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822960" y="548640"/>
            <a:ext cx="10515600" cy="365760"/>
          </a:xfrm>
          <a:prstGeom prst="rect">
            <a:avLst/>
          </a:prstGeom>
          <a:noFill/>
          <a:ln/>
        </p:spPr>
        <p:txBody>
          <a:bodyPr wrap="square" lIns="0" tIns="0" rIns="0" bIns="0" rtlCol="0" anchor="ctr"/>
          <a:lstStyle/>
          <a:p>
            <a:pPr indent="0" marL="0">
              <a:buNone/>
            </a:pPr>
            <a:r>
              <a:rPr lang="en-US" sz="1300" b="1" spc="300" kern="0" dirty="0">
                <a:solidFill>
                  <a:srgbClr val="8A7F4E"/>
                </a:solidFill>
                <a:latin typeface="Calibri" pitchFamily="34" charset="0"/>
                <a:ea typeface="Calibri" pitchFamily="34" charset="-122"/>
                <a:cs typeface="Calibri" pitchFamily="34" charset="-120"/>
              </a:rPr>
              <a:t>SAME HELD-OUT CLIPS  ·  BOTH MODELS  ·  IDENTICAL DECODING</a:t>
            </a:r>
            <a:endParaRPr lang="en-US" sz="1300" dirty="0"/>
          </a:p>
        </p:txBody>
      </p:sp>
      <p:pic>
        <p:nvPicPr>
          <p:cNvPr id="4" name="Image 0" descr="chart_dark.png">    </p:cNvPr>
          <p:cNvPicPr>
            <a:picLocks noChangeAspect="1"/>
          </p:cNvPicPr>
          <p:nvPr/>
        </p:nvPicPr>
        <p:blipFill>
          <a:blip r:embed="rId1"/>
          <a:stretch>
            <a:fillRect/>
          </a:stretch>
        </p:blipFill>
        <p:spPr>
          <a:xfrm>
            <a:off x="594360" y="1371600"/>
            <a:ext cx="6675120" cy="3968496"/>
          </a:xfrm>
          <a:prstGeom prst="rect">
            <a:avLst/>
          </a:prstGeom>
        </p:spPr>
      </p:pic>
      <p:sp>
        <p:nvSpPr>
          <p:cNvPr id="5" name="Text 1"/>
          <p:cNvSpPr/>
          <p:nvPr/>
        </p:nvSpPr>
        <p:spPr>
          <a:xfrm>
            <a:off x="7498080" y="1234440"/>
            <a:ext cx="4023360" cy="685800"/>
          </a:xfrm>
          <a:prstGeom prst="rect">
            <a:avLst/>
          </a:prstGeom>
          <a:noFill/>
          <a:ln/>
        </p:spPr>
        <p:txBody>
          <a:bodyPr wrap="square" lIns="0" tIns="0" rIns="0" bIns="0" rtlCol="0" anchor="ctr"/>
          <a:lstStyle/>
          <a:p>
            <a:pPr indent="0" marL="0">
              <a:buNone/>
            </a:pPr>
            <a:r>
              <a:rPr lang="en-US" sz="3400" b="1" dirty="0">
                <a:solidFill>
                  <a:srgbClr val="8A7F4E"/>
                </a:solidFill>
                <a:latin typeface="Bookman Old Style" pitchFamily="34" charset="0"/>
                <a:ea typeface="Bookman Old Style" pitchFamily="34" charset="-122"/>
                <a:cs typeface="Bookman Old Style" pitchFamily="34" charset="-120"/>
              </a:rPr>
              <a:t>41.96%</a:t>
            </a:r>
            <a:endParaRPr lang="en-US" sz="3400" dirty="0"/>
          </a:p>
        </p:txBody>
      </p:sp>
      <p:sp>
        <p:nvSpPr>
          <p:cNvPr id="6" name="Text 2"/>
          <p:cNvSpPr/>
          <p:nvPr/>
        </p:nvSpPr>
        <p:spPr>
          <a:xfrm>
            <a:off x="7498080" y="1874520"/>
            <a:ext cx="4023360" cy="457200"/>
          </a:xfrm>
          <a:prstGeom prst="rect">
            <a:avLst/>
          </a:prstGeom>
          <a:noFill/>
          <a:ln/>
        </p:spPr>
        <p:txBody>
          <a:bodyPr wrap="square" lIns="0" tIns="0" rIns="0" bIns="0" rtlCol="0" anchor="ctr"/>
          <a:lstStyle/>
          <a:p>
            <a:pPr indent="0" marL="0">
              <a:buNone/>
            </a:pPr>
            <a:r>
              <a:rPr lang="en-US" sz="2200" b="1" dirty="0">
                <a:solidFill>
                  <a:srgbClr val="D4AF37"/>
                </a:solidFill>
                <a:latin typeface="Calibri" pitchFamily="34" charset="0"/>
                <a:ea typeface="Calibri" pitchFamily="34" charset="-122"/>
                <a:cs typeface="Calibri" pitchFamily="34" charset="-120"/>
              </a:rPr>
              <a:t>↓</a:t>
            </a:r>
            <a:endParaRPr lang="en-US" sz="2200" dirty="0"/>
          </a:p>
        </p:txBody>
      </p:sp>
      <p:sp>
        <p:nvSpPr>
          <p:cNvPr id="7" name="Text 3"/>
          <p:cNvSpPr/>
          <p:nvPr/>
        </p:nvSpPr>
        <p:spPr>
          <a:xfrm>
            <a:off x="7498080" y="2286000"/>
            <a:ext cx="4023360" cy="960120"/>
          </a:xfrm>
          <a:prstGeom prst="rect">
            <a:avLst/>
          </a:prstGeom>
          <a:noFill/>
          <a:ln/>
        </p:spPr>
        <p:txBody>
          <a:bodyPr wrap="square" lIns="0" tIns="0" rIns="0" bIns="0" rtlCol="0" anchor="ctr"/>
          <a:lstStyle/>
          <a:p>
            <a:pPr indent="0" marL="0">
              <a:buNone/>
            </a:pPr>
            <a:r>
              <a:rPr lang="en-US" sz="5200" b="1" dirty="0">
                <a:solidFill>
                  <a:srgbClr val="D4AF37"/>
                </a:solidFill>
                <a:latin typeface="Bookman Old Style" pitchFamily="34" charset="0"/>
                <a:ea typeface="Bookman Old Style" pitchFamily="34" charset="-122"/>
                <a:cs typeface="Bookman Old Style" pitchFamily="34" charset="-120"/>
              </a:rPr>
              <a:t>12.35%</a:t>
            </a:r>
            <a:endParaRPr lang="en-US" sz="5200" dirty="0"/>
          </a:p>
        </p:txBody>
      </p:sp>
      <p:sp>
        <p:nvSpPr>
          <p:cNvPr id="8" name="Text 4"/>
          <p:cNvSpPr/>
          <p:nvPr/>
        </p:nvSpPr>
        <p:spPr>
          <a:xfrm>
            <a:off x="7498080" y="3246120"/>
            <a:ext cx="4023360" cy="365760"/>
          </a:xfrm>
          <a:prstGeom prst="rect">
            <a:avLst/>
          </a:prstGeom>
          <a:noFill/>
          <a:ln/>
        </p:spPr>
        <p:txBody>
          <a:bodyPr wrap="square" lIns="0" tIns="0" rIns="0" bIns="0" rtlCol="0" anchor="ctr"/>
          <a:lstStyle/>
          <a:p>
            <a:pPr indent="0" marL="0">
              <a:buNone/>
            </a:pPr>
            <a:r>
              <a:rPr lang="en-US" sz="1100" b="1" spc="200" kern="0" dirty="0">
                <a:solidFill>
                  <a:srgbClr val="8A7F4E"/>
                </a:solidFill>
                <a:latin typeface="Calibri" pitchFamily="34" charset="0"/>
                <a:ea typeface="Calibri" pitchFamily="34" charset="-122"/>
                <a:cs typeface="Calibri" pitchFamily="34" charset="-120"/>
              </a:rPr>
              <a:t>WORD ERROR RATE, LOWER IS BETTER</a:t>
            </a:r>
            <a:endParaRPr lang="en-US" sz="1100" dirty="0"/>
          </a:p>
        </p:txBody>
      </p:sp>
      <p:sp>
        <p:nvSpPr>
          <p:cNvPr id="9" name="Text 5"/>
          <p:cNvSpPr/>
          <p:nvPr/>
        </p:nvSpPr>
        <p:spPr>
          <a:xfrm>
            <a:off x="7498080" y="3794760"/>
            <a:ext cx="1828800" cy="777240"/>
          </a:xfrm>
          <a:prstGeom prst="rect">
            <a:avLst/>
          </a:prstGeom>
          <a:noFill/>
          <a:ln/>
        </p:spPr>
        <p:txBody>
          <a:bodyPr wrap="square" lIns="0" tIns="0" rIns="0" bIns="0" rtlCol="0" anchor="ctr"/>
          <a:lstStyle/>
          <a:p>
            <a:pPr algn="ctr" indent="0" marL="0">
              <a:buNone/>
            </a:pPr>
            <a:r>
              <a:rPr lang="en-US" sz="4000" b="1" dirty="0">
                <a:solidFill>
                  <a:srgbClr val="D4AF37"/>
                </a:solidFill>
                <a:latin typeface="Bookman Old Style" pitchFamily="34" charset="0"/>
                <a:ea typeface="Bookman Old Style" pitchFamily="34" charset="-122"/>
                <a:cs typeface="Bookman Old Style" pitchFamily="34" charset="-120"/>
              </a:rPr>
              <a:t>71%</a:t>
            </a:r>
            <a:endParaRPr lang="en-US" sz="4000" dirty="0"/>
          </a:p>
        </p:txBody>
      </p:sp>
      <p:sp>
        <p:nvSpPr>
          <p:cNvPr id="10" name="Text 6"/>
          <p:cNvSpPr/>
          <p:nvPr/>
        </p:nvSpPr>
        <p:spPr>
          <a:xfrm>
            <a:off x="7498080" y="4526280"/>
            <a:ext cx="1828800" cy="320040"/>
          </a:xfrm>
          <a:prstGeom prst="rect">
            <a:avLst/>
          </a:prstGeom>
          <a:noFill/>
          <a:ln/>
        </p:spPr>
        <p:txBody>
          <a:bodyPr wrap="square" lIns="0" tIns="0" rIns="0" bIns="0" rtlCol="0" anchor="ctr"/>
          <a:lstStyle/>
          <a:p>
            <a:pPr algn="ctr" indent="0" marL="0">
              <a:buNone/>
            </a:pPr>
            <a:r>
              <a:rPr lang="en-US" sz="1000" b="1" spc="100" kern="0" dirty="0">
                <a:solidFill>
                  <a:srgbClr val="8A7F4E"/>
                </a:solidFill>
                <a:latin typeface="Calibri" pitchFamily="34" charset="0"/>
                <a:ea typeface="Calibri" pitchFamily="34" charset="-122"/>
                <a:cs typeface="Calibri" pitchFamily="34" charset="-120"/>
              </a:rPr>
              <a:t>LESS WORD ERROR</a:t>
            </a:r>
            <a:endParaRPr lang="en-US" sz="1000" dirty="0"/>
          </a:p>
        </p:txBody>
      </p:sp>
      <p:sp>
        <p:nvSpPr>
          <p:cNvPr id="11" name="Text 7"/>
          <p:cNvSpPr/>
          <p:nvPr/>
        </p:nvSpPr>
        <p:spPr>
          <a:xfrm>
            <a:off x="9509760" y="3794760"/>
            <a:ext cx="1828800" cy="777240"/>
          </a:xfrm>
          <a:prstGeom prst="rect">
            <a:avLst/>
          </a:prstGeom>
          <a:noFill/>
          <a:ln/>
        </p:spPr>
        <p:txBody>
          <a:bodyPr wrap="square" lIns="0" tIns="0" rIns="0" bIns="0" rtlCol="0" anchor="ctr"/>
          <a:lstStyle/>
          <a:p>
            <a:pPr algn="ctr" indent="0" marL="0">
              <a:buNone/>
            </a:pPr>
            <a:r>
              <a:rPr lang="en-US" sz="4000" b="1" dirty="0">
                <a:solidFill>
                  <a:srgbClr val="D4AF37"/>
                </a:solidFill>
                <a:latin typeface="Bookman Old Style" pitchFamily="34" charset="0"/>
                <a:ea typeface="Bookman Old Style" pitchFamily="34" charset="-122"/>
                <a:cs typeface="Bookman Old Style" pitchFamily="34" charset="-120"/>
              </a:rPr>
              <a:t>72%</a:t>
            </a:r>
            <a:endParaRPr lang="en-US" sz="4000" dirty="0"/>
          </a:p>
        </p:txBody>
      </p:sp>
      <p:sp>
        <p:nvSpPr>
          <p:cNvPr id="12" name="Text 8"/>
          <p:cNvSpPr/>
          <p:nvPr/>
        </p:nvSpPr>
        <p:spPr>
          <a:xfrm>
            <a:off x="9509760" y="4526280"/>
            <a:ext cx="1828800" cy="320040"/>
          </a:xfrm>
          <a:prstGeom prst="rect">
            <a:avLst/>
          </a:prstGeom>
          <a:noFill/>
          <a:ln/>
        </p:spPr>
        <p:txBody>
          <a:bodyPr wrap="square" lIns="0" tIns="0" rIns="0" bIns="0" rtlCol="0" anchor="ctr"/>
          <a:lstStyle/>
          <a:p>
            <a:pPr algn="ctr" indent="0" marL="0">
              <a:buNone/>
            </a:pPr>
            <a:r>
              <a:rPr lang="en-US" sz="1000" b="1" spc="100" kern="0" dirty="0">
                <a:solidFill>
                  <a:srgbClr val="8A7F4E"/>
                </a:solidFill>
                <a:latin typeface="Calibri" pitchFamily="34" charset="0"/>
                <a:ea typeface="Calibri" pitchFamily="34" charset="-122"/>
                <a:cs typeface="Calibri" pitchFamily="34" charset="-120"/>
              </a:rPr>
              <a:t>LESS CHAR ERROR</a:t>
            </a:r>
            <a:endParaRPr lang="en-US" sz="1000" dirty="0"/>
          </a:p>
        </p:txBody>
      </p:sp>
      <p:sp>
        <p:nvSpPr>
          <p:cNvPr id="13" name="Text 9"/>
          <p:cNvSpPr/>
          <p:nvPr/>
        </p:nvSpPr>
        <p:spPr>
          <a:xfrm>
            <a:off x="7498080" y="5074920"/>
            <a:ext cx="4023360" cy="1097280"/>
          </a:xfrm>
          <a:prstGeom prst="rect">
            <a:avLst/>
          </a:prstGeom>
          <a:noFill/>
          <a:ln/>
        </p:spPr>
        <p:txBody>
          <a:bodyPr wrap="square" lIns="0" tIns="0" rIns="0" bIns="0" rtlCol="0" anchor="ctr"/>
          <a:lstStyle/>
          <a:p>
            <a:pPr indent="0" marL="0">
              <a:lnSpc>
                <a:spcPct val="130000"/>
              </a:lnSpc>
              <a:buNone/>
            </a:pPr>
            <a:r>
              <a:rPr lang="en-US" sz="1700" dirty="0">
                <a:solidFill>
                  <a:srgbClr val="C5B358"/>
                </a:solidFill>
                <a:latin typeface="Calibri" pitchFamily="34" charset="0"/>
                <a:ea typeface="Calibri" pitchFamily="34" charset="-122"/>
                <a:cs typeface="Calibri" pitchFamily="34" charset="-120"/>
              </a:rPr>
              <a:t>At 42% you get captions you cannot trust.
</a:t>
            </a:r>
            <a:pPr indent="0" marL="0">
              <a:lnSpc>
                <a:spcPct val="130000"/>
              </a:lnSpc>
              <a:buNone/>
            </a:pPr>
            <a:r>
              <a:rPr lang="en-US" sz="1700" b="1" dirty="0">
                <a:solidFill>
                  <a:srgbClr val="D4AF37"/>
                </a:solidFill>
                <a:latin typeface="Calibri" pitchFamily="34" charset="0"/>
                <a:ea typeface="Calibri" pitchFamily="34" charset="-122"/>
                <a:cs typeface="Calibri" pitchFamily="34" charset="-120"/>
              </a:rPr>
              <a:t>At 12% you get captions you can follow.</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822960" y="548640"/>
            <a:ext cx="10515600" cy="365760"/>
          </a:xfrm>
          <a:prstGeom prst="rect">
            <a:avLst/>
          </a:prstGeom>
          <a:noFill/>
          <a:ln/>
        </p:spPr>
        <p:txBody>
          <a:bodyPr wrap="square" lIns="0" tIns="0" rIns="0" bIns="0" rtlCol="0" anchor="ctr"/>
          <a:lstStyle/>
          <a:p>
            <a:pPr indent="0" marL="0">
              <a:buNone/>
            </a:pPr>
            <a:r>
              <a:rPr lang="en-US" sz="1300" b="1" spc="300" kern="0" dirty="0">
                <a:solidFill>
                  <a:srgbClr val="8A7F4E"/>
                </a:solidFill>
                <a:latin typeface="Calibri" pitchFamily="34" charset="0"/>
                <a:ea typeface="Calibri" pitchFamily="34" charset="-122"/>
                <a:cs typeface="Calibri" pitchFamily="34" charset="-120"/>
              </a:rPr>
              <a:t>HOW THE NUMBER WAS MEASURED</a:t>
            </a:r>
            <a:endParaRPr lang="en-US" sz="1300" dirty="0"/>
          </a:p>
        </p:txBody>
      </p:sp>
      <p:sp>
        <p:nvSpPr>
          <p:cNvPr id="4" name="Text 1"/>
          <p:cNvSpPr/>
          <p:nvPr/>
        </p:nvSpPr>
        <p:spPr>
          <a:xfrm>
            <a:off x="822960" y="1554480"/>
            <a:ext cx="10515600" cy="1828800"/>
          </a:xfrm>
          <a:prstGeom prst="rect">
            <a:avLst/>
          </a:prstGeom>
          <a:noFill/>
          <a:ln/>
        </p:spPr>
        <p:txBody>
          <a:bodyPr wrap="square" lIns="0" tIns="0" rIns="0" bIns="0" rtlCol="0" anchor="ctr"/>
          <a:lstStyle/>
          <a:p>
            <a:pPr indent="0" marL="0">
              <a:lnSpc>
                <a:spcPct val="110000"/>
              </a:lnSpc>
              <a:buNone/>
            </a:pPr>
            <a:r>
              <a:rPr lang="en-US" sz="4600" b="1" dirty="0">
                <a:solidFill>
                  <a:srgbClr val="D4AF37"/>
                </a:solidFill>
                <a:latin typeface="Bookman Old Style" pitchFamily="34" charset="0"/>
                <a:ea typeface="Bookman Old Style" pitchFamily="34" charset="-122"/>
                <a:cs typeface="Bookman Old Style" pitchFamily="34" charset="-120"/>
              </a:rPr>
              <a:t>One model, measured</a:t>
            </a:r>
            <a:endParaRPr lang="en-US" sz="4600" dirty="0"/>
          </a:p>
          <a:p>
            <a:pPr indent="0" marL="0">
              <a:lnSpc>
                <a:spcPct val="110000"/>
              </a:lnSpc>
              <a:buNone/>
            </a:pPr>
            <a:r>
              <a:rPr lang="en-US" sz="4600" b="1" dirty="0">
                <a:solidFill>
                  <a:srgbClr val="D4AF37"/>
                </a:solidFill>
                <a:latin typeface="Bookman Old Style" pitchFamily="34" charset="0"/>
                <a:ea typeface="Bookman Old Style" pitchFamily="34" charset="-122"/>
                <a:cs typeface="Bookman Old Style" pitchFamily="34" charset="-120"/>
              </a:rPr>
              <a:t>against itself.</a:t>
            </a:r>
            <a:endParaRPr lang="en-US" sz="4600" dirty="0"/>
          </a:p>
        </p:txBody>
      </p:sp>
      <p:sp>
        <p:nvSpPr>
          <p:cNvPr id="5" name="Shape 2"/>
          <p:cNvSpPr/>
          <p:nvPr/>
        </p:nvSpPr>
        <p:spPr>
          <a:xfrm>
            <a:off x="822960" y="3703320"/>
            <a:ext cx="1005840" cy="54864"/>
          </a:xfrm>
          <a:prstGeom prst="rect">
            <a:avLst/>
          </a:prstGeom>
          <a:solidFill>
            <a:srgbClr val="D4AF37"/>
          </a:solidFill>
          <a:ln/>
        </p:spPr>
      </p:sp>
      <p:sp>
        <p:nvSpPr>
          <p:cNvPr id="6" name="Text 3"/>
          <p:cNvSpPr/>
          <p:nvPr/>
        </p:nvSpPr>
        <p:spPr>
          <a:xfrm>
            <a:off x="822960" y="4069080"/>
            <a:ext cx="10424160" cy="1097280"/>
          </a:xfrm>
          <a:prstGeom prst="rect">
            <a:avLst/>
          </a:prstGeom>
          <a:noFill/>
          <a:ln/>
        </p:spPr>
        <p:txBody>
          <a:bodyPr wrap="square" lIns="0" tIns="0" rIns="0" bIns="0" rtlCol="0" anchor="ctr"/>
          <a:lstStyle/>
          <a:p>
            <a:pPr indent="0" marL="0">
              <a:lnSpc>
                <a:spcPct val="130000"/>
              </a:lnSpc>
              <a:buNone/>
            </a:pPr>
            <a:r>
              <a:rPr lang="en-US" sz="2400" dirty="0">
                <a:solidFill>
                  <a:srgbClr val="C5B358"/>
                </a:solidFill>
                <a:latin typeface="Calibri" pitchFamily="34" charset="0"/>
                <a:ea typeface="Calibri" pitchFamily="34" charset="-122"/>
                <a:cs typeface="Calibri" pitchFamily="34" charset="-120"/>
              </a:rPr>
              <a:t>Same clips, both models, identical decoding. Held out of training, and not picked after we saw the results. No number off a </a:t>
            </a:r>
            <a:pPr indent="0" marL="0">
              <a:lnSpc>
                <a:spcPct val="130000"/>
              </a:lnSpc>
              <a:buNone/>
            </a:pPr>
            <a:r>
              <a:rPr lang="en-US" sz="2400" b="1" dirty="0">
                <a:solidFill>
                  <a:srgbClr val="D4AF37"/>
                </a:solidFill>
                <a:latin typeface="Calibri" pitchFamily="34" charset="0"/>
                <a:ea typeface="Calibri" pitchFamily="34" charset="-122"/>
                <a:cs typeface="Calibri" pitchFamily="34" charset="-120"/>
              </a:rPr>
              <a:t>training curve.</a:t>
            </a:r>
            <a:endParaRPr lang="en-US" sz="2400" dirty="0"/>
          </a:p>
        </p:txBody>
      </p:sp>
      <p:sp>
        <p:nvSpPr>
          <p:cNvPr id="7" name="Text 4"/>
          <p:cNvSpPr/>
          <p:nvPr/>
        </p:nvSpPr>
        <p:spPr>
          <a:xfrm>
            <a:off x="822960" y="5303520"/>
            <a:ext cx="10424160" cy="731520"/>
          </a:xfrm>
          <a:prstGeom prst="rect">
            <a:avLst/>
          </a:prstGeom>
          <a:noFill/>
          <a:ln/>
        </p:spPr>
        <p:txBody>
          <a:bodyPr wrap="square" lIns="0" tIns="0" rIns="0" bIns="0" rtlCol="0" anchor="ctr"/>
          <a:lstStyle/>
          <a:p>
            <a:pPr indent="0" marL="0">
              <a:lnSpc>
                <a:spcPct val="130000"/>
              </a:lnSpc>
              <a:buNone/>
            </a:pPr>
            <a:r>
              <a:rPr lang="en-US" sz="2000" dirty="0">
                <a:solidFill>
                  <a:srgbClr val="8A7F4E"/>
                </a:solidFill>
                <a:latin typeface="Calibri" pitchFamily="34" charset="0"/>
                <a:ea typeface="Calibri" pitchFamily="34" charset="-122"/>
                <a:cs typeface="Calibri" pitchFamily="34" charset="-120"/>
              </a:rPr>
              <a:t>The accuracy columns are 100 minus the error rate. Readable indicators, not classification accuracy. We label them rather than let them be misread.</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822960" y="548640"/>
            <a:ext cx="10515600" cy="365760"/>
          </a:xfrm>
          <a:prstGeom prst="rect">
            <a:avLst/>
          </a:prstGeom>
          <a:noFill/>
          <a:ln/>
        </p:spPr>
        <p:txBody>
          <a:bodyPr wrap="square" lIns="0" tIns="0" rIns="0" bIns="0" rtlCol="0" anchor="ctr"/>
          <a:lstStyle/>
          <a:p>
            <a:pPr indent="0" marL="0">
              <a:buNone/>
            </a:pPr>
            <a:r>
              <a:rPr lang="en-US" sz="1300" b="1" spc="300" kern="0" dirty="0">
                <a:solidFill>
                  <a:srgbClr val="8A7F4E"/>
                </a:solidFill>
                <a:latin typeface="Calibri" pitchFamily="34" charset="0"/>
                <a:ea typeface="Calibri" pitchFamily="34" charset="-122"/>
                <a:cs typeface="Calibri" pitchFamily="34" charset="-120"/>
              </a:rPr>
              <a:t>WHAT HAPPENS AFTER TODAY</a:t>
            </a:r>
            <a:endParaRPr lang="en-US" sz="1300" dirty="0"/>
          </a:p>
        </p:txBody>
      </p:sp>
      <p:sp>
        <p:nvSpPr>
          <p:cNvPr id="4" name="Text 1"/>
          <p:cNvSpPr/>
          <p:nvPr/>
        </p:nvSpPr>
        <p:spPr>
          <a:xfrm>
            <a:off x="822960" y="1371600"/>
            <a:ext cx="411480" cy="548640"/>
          </a:xfrm>
          <a:prstGeom prst="rect">
            <a:avLst/>
          </a:prstGeom>
          <a:noFill/>
          <a:ln/>
        </p:spPr>
        <p:txBody>
          <a:bodyPr wrap="square" lIns="0" tIns="0" rIns="0" bIns="0" rtlCol="0" anchor="ctr"/>
          <a:lstStyle/>
          <a:p>
            <a:pPr indent="0" marL="0">
              <a:buNone/>
            </a:pPr>
            <a:r>
              <a:rPr lang="en-US" sz="2200" dirty="0">
                <a:solidFill>
                  <a:srgbClr val="D4AF37"/>
                </a:solidFill>
                <a:latin typeface="Calibri" pitchFamily="34" charset="0"/>
                <a:ea typeface="Calibri" pitchFamily="34" charset="-122"/>
                <a:cs typeface="Calibri" pitchFamily="34" charset="-120"/>
              </a:rPr>
              <a:t>→</a:t>
            </a:r>
            <a:endParaRPr lang="en-US" sz="2200" dirty="0"/>
          </a:p>
        </p:txBody>
      </p:sp>
      <p:sp>
        <p:nvSpPr>
          <p:cNvPr id="5" name="Text 2"/>
          <p:cNvSpPr/>
          <p:nvPr/>
        </p:nvSpPr>
        <p:spPr>
          <a:xfrm>
            <a:off x="1280160" y="1371600"/>
            <a:ext cx="10058400" cy="548640"/>
          </a:xfrm>
          <a:prstGeom prst="rect">
            <a:avLst/>
          </a:prstGeom>
          <a:noFill/>
          <a:ln/>
        </p:spPr>
        <p:txBody>
          <a:bodyPr wrap="square" lIns="0" tIns="0" rIns="0" bIns="0" rtlCol="0" anchor="ctr"/>
          <a:lstStyle/>
          <a:p>
            <a:pPr indent="0" marL="0">
              <a:buNone/>
            </a:pPr>
            <a:r>
              <a:rPr lang="en-US" sz="2100" dirty="0">
                <a:solidFill>
                  <a:srgbClr val="C5B358"/>
                </a:solidFill>
                <a:latin typeface="Calibri" pitchFamily="34" charset="0"/>
                <a:ea typeface="Calibri" pitchFamily="34" charset="-122"/>
                <a:cs typeface="Calibri" pitchFamily="34" charset="-120"/>
              </a:rPr>
              <a:t>NFDN has offered to facilitate the pilot</a:t>
            </a:r>
            <a:endParaRPr lang="en-US" sz="2100" dirty="0"/>
          </a:p>
        </p:txBody>
      </p:sp>
      <p:sp>
        <p:nvSpPr>
          <p:cNvPr id="6" name="Text 3"/>
          <p:cNvSpPr/>
          <p:nvPr/>
        </p:nvSpPr>
        <p:spPr>
          <a:xfrm>
            <a:off x="822960" y="2084832"/>
            <a:ext cx="411480" cy="548640"/>
          </a:xfrm>
          <a:prstGeom prst="rect">
            <a:avLst/>
          </a:prstGeom>
          <a:noFill/>
          <a:ln/>
        </p:spPr>
        <p:txBody>
          <a:bodyPr wrap="square" lIns="0" tIns="0" rIns="0" bIns="0" rtlCol="0" anchor="ctr"/>
          <a:lstStyle/>
          <a:p>
            <a:pPr indent="0" marL="0">
              <a:buNone/>
            </a:pPr>
            <a:r>
              <a:rPr lang="en-US" sz="2200" dirty="0">
                <a:solidFill>
                  <a:srgbClr val="D4AF37"/>
                </a:solidFill>
                <a:latin typeface="Calibri" pitchFamily="34" charset="0"/>
                <a:ea typeface="Calibri" pitchFamily="34" charset="-122"/>
                <a:cs typeface="Calibri" pitchFamily="34" charset="-120"/>
              </a:rPr>
              <a:t>→</a:t>
            </a:r>
            <a:endParaRPr lang="en-US" sz="2200" dirty="0"/>
          </a:p>
        </p:txBody>
      </p:sp>
      <p:sp>
        <p:nvSpPr>
          <p:cNvPr id="7" name="Text 4"/>
          <p:cNvSpPr/>
          <p:nvPr/>
        </p:nvSpPr>
        <p:spPr>
          <a:xfrm>
            <a:off x="1280160" y="2084832"/>
            <a:ext cx="10058400" cy="548640"/>
          </a:xfrm>
          <a:prstGeom prst="rect">
            <a:avLst/>
          </a:prstGeom>
          <a:noFill/>
          <a:ln/>
        </p:spPr>
        <p:txBody>
          <a:bodyPr wrap="square" lIns="0" tIns="0" rIns="0" bIns="0" rtlCol="0" anchor="ctr"/>
          <a:lstStyle/>
          <a:p>
            <a:pPr indent="0" marL="0">
              <a:buNone/>
            </a:pPr>
            <a:r>
              <a:rPr lang="en-US" sz="2100" dirty="0">
                <a:solidFill>
                  <a:srgbClr val="C5B358"/>
                </a:solidFill>
                <a:latin typeface="Calibri" pitchFamily="34" charset="0"/>
                <a:ea typeface="Calibri" pitchFamily="34" charset="-122"/>
                <a:cs typeface="Calibri" pitchFamily="34" charset="-120"/>
              </a:rPr>
              <a:t>Hard-of-hearing user session: tomorrow</a:t>
            </a:r>
            <a:endParaRPr lang="en-US" sz="2100" dirty="0"/>
          </a:p>
        </p:txBody>
      </p:sp>
      <p:sp>
        <p:nvSpPr>
          <p:cNvPr id="8" name="Text 5"/>
          <p:cNvSpPr/>
          <p:nvPr/>
        </p:nvSpPr>
        <p:spPr>
          <a:xfrm>
            <a:off x="822960" y="2798064"/>
            <a:ext cx="411480" cy="548640"/>
          </a:xfrm>
          <a:prstGeom prst="rect">
            <a:avLst/>
          </a:prstGeom>
          <a:noFill/>
          <a:ln/>
        </p:spPr>
        <p:txBody>
          <a:bodyPr wrap="square" lIns="0" tIns="0" rIns="0" bIns="0" rtlCol="0" anchor="ctr"/>
          <a:lstStyle/>
          <a:p>
            <a:pPr indent="0" marL="0">
              <a:buNone/>
            </a:pPr>
            <a:r>
              <a:rPr lang="en-US" sz="2200" dirty="0">
                <a:solidFill>
                  <a:srgbClr val="D4AF37"/>
                </a:solidFill>
                <a:latin typeface="Calibri" pitchFamily="34" charset="0"/>
                <a:ea typeface="Calibri" pitchFamily="34" charset="-122"/>
                <a:cs typeface="Calibri" pitchFamily="34" charset="-120"/>
              </a:rPr>
              <a:t>→</a:t>
            </a:r>
            <a:endParaRPr lang="en-US" sz="2200" dirty="0"/>
          </a:p>
        </p:txBody>
      </p:sp>
      <p:sp>
        <p:nvSpPr>
          <p:cNvPr id="9" name="Text 6"/>
          <p:cNvSpPr/>
          <p:nvPr/>
        </p:nvSpPr>
        <p:spPr>
          <a:xfrm>
            <a:off x="1280160" y="2798064"/>
            <a:ext cx="10058400" cy="548640"/>
          </a:xfrm>
          <a:prstGeom prst="rect">
            <a:avLst/>
          </a:prstGeom>
          <a:noFill/>
          <a:ln/>
        </p:spPr>
        <p:txBody>
          <a:bodyPr wrap="square" lIns="0" tIns="0" rIns="0" bIns="0" rtlCol="0" anchor="ctr"/>
          <a:lstStyle/>
          <a:p>
            <a:pPr indent="0" marL="0">
              <a:buNone/>
            </a:pPr>
            <a:r>
              <a:rPr lang="en-US" sz="2100" dirty="0">
                <a:solidFill>
                  <a:srgbClr val="C5B358"/>
                </a:solidFill>
                <a:latin typeface="Calibri" pitchFamily="34" charset="0"/>
                <a:ea typeface="Calibri" pitchFamily="34" charset="-122"/>
                <a:cs typeface="Calibri" pitchFamily="34" charset="-120"/>
              </a:rPr>
              <a:t>Then real-time streaming captions</a:t>
            </a:r>
            <a:endParaRPr lang="en-US" sz="2100" dirty="0"/>
          </a:p>
        </p:txBody>
      </p:sp>
      <p:sp>
        <p:nvSpPr>
          <p:cNvPr id="10" name="Text 7"/>
          <p:cNvSpPr/>
          <p:nvPr/>
        </p:nvSpPr>
        <p:spPr>
          <a:xfrm>
            <a:off x="822960" y="3511296"/>
            <a:ext cx="411480" cy="548640"/>
          </a:xfrm>
          <a:prstGeom prst="rect">
            <a:avLst/>
          </a:prstGeom>
          <a:noFill/>
          <a:ln/>
        </p:spPr>
        <p:txBody>
          <a:bodyPr wrap="square" lIns="0" tIns="0" rIns="0" bIns="0" rtlCol="0" anchor="ctr"/>
          <a:lstStyle/>
          <a:p>
            <a:pPr indent="0" marL="0">
              <a:buNone/>
            </a:pPr>
            <a:r>
              <a:rPr lang="en-US" sz="2200" dirty="0">
                <a:solidFill>
                  <a:srgbClr val="D4AF37"/>
                </a:solidFill>
                <a:latin typeface="Calibri" pitchFamily="34" charset="0"/>
                <a:ea typeface="Calibri" pitchFamily="34" charset="-122"/>
                <a:cs typeface="Calibri" pitchFamily="34" charset="-120"/>
              </a:rPr>
              <a:t>→</a:t>
            </a:r>
            <a:endParaRPr lang="en-US" sz="2200" dirty="0"/>
          </a:p>
        </p:txBody>
      </p:sp>
      <p:sp>
        <p:nvSpPr>
          <p:cNvPr id="11" name="Text 8"/>
          <p:cNvSpPr/>
          <p:nvPr/>
        </p:nvSpPr>
        <p:spPr>
          <a:xfrm>
            <a:off x="1280160" y="3511296"/>
            <a:ext cx="10058400" cy="548640"/>
          </a:xfrm>
          <a:prstGeom prst="rect">
            <a:avLst/>
          </a:prstGeom>
          <a:noFill/>
          <a:ln/>
        </p:spPr>
        <p:txBody>
          <a:bodyPr wrap="square" lIns="0" tIns="0" rIns="0" bIns="0" rtlCol="0" anchor="ctr"/>
          <a:lstStyle/>
          <a:p>
            <a:pPr indent="0" marL="0">
              <a:buNone/>
            </a:pPr>
            <a:r>
              <a:rPr lang="en-US" sz="2100" dirty="0">
                <a:solidFill>
                  <a:srgbClr val="C5B358"/>
                </a:solidFill>
                <a:latin typeface="Calibri" pitchFamily="34" charset="0"/>
                <a:ea typeface="Calibri" pitchFamily="34" charset="-122"/>
                <a:cs typeface="Calibri" pitchFamily="34" charset="-120"/>
              </a:rPr>
              <a:t>Then on-device, in a district clinic, with no internet at all</a:t>
            </a:r>
            <a:endParaRPr lang="en-US" sz="2100" dirty="0"/>
          </a:p>
        </p:txBody>
      </p:sp>
      <p:sp>
        <p:nvSpPr>
          <p:cNvPr id="12" name="Shape 9"/>
          <p:cNvSpPr/>
          <p:nvPr/>
        </p:nvSpPr>
        <p:spPr>
          <a:xfrm>
            <a:off x="3291840" y="4526280"/>
            <a:ext cx="5577840" cy="1371600"/>
          </a:xfrm>
          <a:prstGeom prst="roundRect">
            <a:avLst>
              <a:gd name="adj" fmla="val 5333"/>
            </a:avLst>
          </a:prstGeom>
          <a:solidFill>
            <a:srgbClr val="000000"/>
          </a:solidFill>
          <a:ln w="31750">
            <a:solidFill>
              <a:srgbClr val="D4AF37"/>
            </a:solidFill>
            <a:prstDash val="solid"/>
          </a:ln>
          <a:effectLst>
            <a:outerShdw sx="100000" sy="100000" kx="0" ky="0" algn="bl" rotWithShape="0" blurRad="279400" dist="50800" dir="16200000">
              <a:srgbClr val="D4AF37">
                <a:alpha val="35000"/>
              </a:srgbClr>
            </a:outerShdw>
          </a:effectLst>
        </p:spPr>
      </p:sp>
      <p:sp>
        <p:nvSpPr>
          <p:cNvPr id="13" name="Shape 10"/>
          <p:cNvSpPr/>
          <p:nvPr/>
        </p:nvSpPr>
        <p:spPr>
          <a:xfrm>
            <a:off x="3566160" y="4764024"/>
            <a:ext cx="137160" cy="137160"/>
          </a:xfrm>
          <a:prstGeom prst="ellipse">
            <a:avLst/>
          </a:prstGeom>
          <a:solidFill>
            <a:srgbClr val="D4AF37"/>
          </a:solidFill>
          <a:ln/>
        </p:spPr>
      </p:sp>
      <p:sp>
        <p:nvSpPr>
          <p:cNvPr id="14" name="Text 11"/>
          <p:cNvSpPr/>
          <p:nvPr/>
        </p:nvSpPr>
        <p:spPr>
          <a:xfrm>
            <a:off x="3767328" y="4672584"/>
            <a:ext cx="914400" cy="320040"/>
          </a:xfrm>
          <a:prstGeom prst="rect">
            <a:avLst/>
          </a:prstGeom>
          <a:noFill/>
          <a:ln/>
        </p:spPr>
        <p:txBody>
          <a:bodyPr wrap="square" lIns="0" tIns="0" rIns="0" bIns="0" rtlCol="0" anchor="ctr"/>
          <a:lstStyle/>
          <a:p>
            <a:pPr indent="0" marL="0">
              <a:buNone/>
            </a:pPr>
            <a:r>
              <a:rPr lang="en-US" sz="1000" b="1" spc="200" kern="0" dirty="0">
                <a:solidFill>
                  <a:srgbClr val="D4AF37"/>
                </a:solidFill>
                <a:latin typeface="Calibri" pitchFamily="34" charset="0"/>
                <a:ea typeface="Calibri" pitchFamily="34" charset="-122"/>
                <a:cs typeface="Calibri" pitchFamily="34" charset="-120"/>
              </a:rPr>
              <a:t>LIVE</a:t>
            </a:r>
            <a:endParaRPr lang="en-US" sz="1000" dirty="0"/>
          </a:p>
        </p:txBody>
      </p:sp>
      <p:sp>
        <p:nvSpPr>
          <p:cNvPr id="15" name="Text 12"/>
          <p:cNvSpPr/>
          <p:nvPr/>
        </p:nvSpPr>
        <p:spPr>
          <a:xfrm>
            <a:off x="3566160" y="4526280"/>
            <a:ext cx="5029200" cy="1371600"/>
          </a:xfrm>
          <a:prstGeom prst="rect">
            <a:avLst/>
          </a:prstGeom>
          <a:noFill/>
          <a:ln/>
        </p:spPr>
        <p:txBody>
          <a:bodyPr wrap="square" lIns="0" tIns="0" rIns="0" bIns="0" rtlCol="0" anchor="ctr"/>
          <a:lstStyle/>
          <a:p>
            <a:pPr algn="ctr" indent="0" marL="0">
              <a:lnSpc>
                <a:spcPct val="120000"/>
              </a:lnSpc>
              <a:buNone/>
            </a:pPr>
            <a:r>
              <a:rPr lang="en-US" sz="3200" dirty="0">
                <a:solidFill>
                  <a:srgbClr val="FFFFFF"/>
                </a:solidFill>
                <a:latin typeface="Courier New" pitchFamily="34" charset="0"/>
                <a:ea typeface="Courier New" pitchFamily="34" charset="-122"/>
                <a:cs typeface="Courier New" pitchFamily="34" charset="-120"/>
              </a:rPr>
              <a:t>Thank you.</a:t>
            </a: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VERSE - pitch</dc:title>
  <dc:subject>PptxGenJS Presentation</dc:subject>
  <dc:creator>Team Northlight</dc:creator>
  <cp:lastModifiedBy>Team Northlight</cp:lastModifiedBy>
  <cp:revision>1</cp:revision>
  <dcterms:created xsi:type="dcterms:W3CDTF">2026-07-31T11:35:54Z</dcterms:created>
  <dcterms:modified xsi:type="dcterms:W3CDTF">2026-07-31T11:35:54Z</dcterms:modified>
</cp:coreProperties>
</file>